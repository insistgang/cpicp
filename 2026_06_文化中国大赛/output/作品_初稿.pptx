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一部书，如何走过一千四百年，走进寻常人家？这就是《颜氏家训》的生命史。我们关心的，不只是它写了什么，更是它如何被一代代人抄写、刊刻、引用，沉淀进日常。这次我们用数字人文方法追踪它——既见物，也见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说缘起。颜之推生于南北朝乱世，写这部家训，只为教子保家；它被视为中国第一部体系完备的家训。我们选它，是因为它有一个张力：一部写给自家子弟的书，后来却被无数毫无血缘的家庭奉为圭臬。由此引出核心追问——教化智慧如何融入日常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张时间轴整理出版本流变，七个节点：成书抄本、唐代官方著录、宋代雕版、明代坊刻普及本、清代族谱引用、民国排印，直到当代数字化。它和印刷技术的进步同步：抄本稀少，只在士族间流传；到明代坊刻已亲民到能进家塾。每一次媒介变革，都把门槛降低一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讲人群。传播路径是四层倒金字塔：最上是士族家学，靠手抄家传；往下是蒙学读物，与《三字经》《弟子规》并列为家塾教材；再往下是族谱家规；最底层是民间日用——理念化进婚丧嫁娶、年节礼仪。这正是“大传统”走向“小传统”的路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这一页拉近到文本。词云用 TF-IDF 方法对样本做字与字组加权，权重越高字号越大。“学”“教”“书”这类核心字与“求益”这样的字组被推到前面——可见这部书强调的始终是怎样教、怎样学、为何读书。需说明：此为演示样本，词频结论随原文补全会变，严谨结论待补全本重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一部书的生命，也在它与别的书的关系里。这张互文网络用相似检索，以《颜氏家训》为核心，连向宋代的《温公家范》《袁氏世范》《三字经》与清代的《朱子家训》《弟子规》。强度同为方法演示，精确数值待补原文比对——但形状已经提示：典籍是在彼此引用中被记住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样一部古书，对今天有什么意义？一是家风家教被重新提起，人们重新关心该把什么价值传给下一代——这正是《颜氏家训》始终在回答的问题。二是古籍数字化：时间轴、传播路径、互文网络，都依赖典籍被结构化为可计算的数据。典籍的智慧并未过时，只是换了更易接近的方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回到开头那句——见物，更见人。我们追踪一部书的版本、传播与互文，表面是在看物；真正浮现的，却是无数普通人如何借这部书教孩子、立家规、过日子。一部书的生命史，归根结底就是无数普通人日常生活的精神史。谢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ig_c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822960" y="1828800"/>
            <a:ext cx="109728" cy="2926080"/>
          </a:xfrm>
          <a:prstGeom prst="rect">
            <a:avLst/>
          </a:prstGeom>
          <a:solidFill>
            <a:srgbClr val="8B45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1920240"/>
            <a:ext cx="86868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5400" b="1">
                <a:solidFill>
                  <a:srgbClr val="5A2D0C"/>
                </a:solidFill>
                <a:latin typeface="Songti SC"/>
                <a:ea typeface="Songti SC"/>
              </a:rPr>
              <a:t>见物，更见人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07008" y="3291840"/>
            <a:ext cx="9144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0">
                <a:solidFill>
                  <a:srgbClr val="8B4513"/>
                </a:solidFill>
                <a:latin typeface="Songti SC"/>
                <a:ea typeface="Songti SC"/>
              </a:rPr>
              <a:t>《颜氏家训》的书籍生命史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25296" y="4297680"/>
            <a:ext cx="7315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0">
                <a:solidFill>
                  <a:srgbClr val="7A6A55"/>
                </a:solidFill>
                <a:latin typeface="Heiti SC"/>
                <a:ea typeface="Heiti SC"/>
              </a:rPr>
              <a:t>赛题2 · 典籍与日常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5A2D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19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4592"/>
            <a:ext cx="10972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800"/>
              </a:spcAft>
            </a:pPr>
            <a:r>
              <a:rPr sz="2800" b="1">
                <a:solidFill>
                  <a:srgbClr val="FFFFFF"/>
                </a:solidFill>
                <a:latin typeface="Songti SC"/>
                <a:ea typeface="Songti SC"/>
              </a:rPr>
              <a:t>选题缘起 · 乱世写就的第一部家训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828800"/>
            <a:ext cx="9601200" cy="4206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5A2D0C"/>
                </a:solidFill>
                <a:latin typeface="Heiti SC"/>
                <a:ea typeface="Heiti SC"/>
              </a:rPr>
              <a:t>·  颜之推生于南北朝乱世，历经四朝，颠沛流离。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5A2D0C"/>
                </a:solidFill>
                <a:latin typeface="Heiti SC"/>
                <a:ea typeface="Heiti SC"/>
              </a:rPr>
              <a:t>·  他写这部家训，不为名垂青史，只为教子保家。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5A2D0C"/>
                </a:solidFill>
                <a:latin typeface="Heiti SC"/>
                <a:ea typeface="Heiti SC"/>
              </a:rPr>
              <a:t>·  这是中国第一部体系化家训，诞生于战火之中。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5A2D0C"/>
                </a:solidFill>
                <a:latin typeface="Heiti SC"/>
                <a:ea typeface="Heiti SC"/>
              </a:rPr>
              <a:t>·  核心追问：典籍中的教化智慧，如何融入日常生活？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5A2D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19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4592"/>
            <a:ext cx="10972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800"/>
              </a:spcAft>
            </a:pPr>
            <a:r>
              <a:rPr sz="2800" b="1">
                <a:solidFill>
                  <a:srgbClr val="FFFFFF"/>
                </a:solidFill>
                <a:latin typeface="Songti SC"/>
                <a:ea typeface="Songti SC"/>
              </a:rPr>
              <a:t>版本流变 · 越印越便宜，越传越广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4206240" cy="4754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>
                <a:solidFill>
                  <a:srgbClr val="5A2D0C"/>
                </a:solidFill>
                <a:latin typeface="Heiti SC"/>
                <a:ea typeface="Heiti SC"/>
              </a:rPr>
              <a:t>·  手抄本 → 雕版刻本 → 明清坊刻普及本 → 标点排印本 → 数字化。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5A2D0C"/>
                </a:solidFill>
                <a:latin typeface="Heiti SC"/>
                <a:ea typeface="Heiti SC"/>
              </a:rPr>
              <a:t>·  每一次印刷技术变革，都让这部书离普通人更近一步。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5A2D0C"/>
                </a:solidFill>
                <a:latin typeface="Heiti SC"/>
                <a:ea typeface="Heiti SC"/>
              </a:rPr>
              <a:t>·  数字人文方法：版本流变时间轴。</a:t>
            </a:r>
          </a:p>
        </p:txBody>
      </p:sp>
      <p:pic>
        <p:nvPicPr>
          <p:cNvPr id="6" name="Picture 5" descr="fig_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2312694"/>
            <a:ext cx="6766559" cy="3238451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5A2D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19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4592"/>
            <a:ext cx="10972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800"/>
              </a:spcAft>
            </a:pPr>
            <a:r>
              <a:rPr sz="2800" b="1">
                <a:solidFill>
                  <a:srgbClr val="FFFFFF"/>
                </a:solidFill>
                <a:latin typeface="Songti SC"/>
                <a:ea typeface="Songti SC"/>
              </a:rPr>
              <a:t>传播下沉 · 从士族家学到民间日用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4206240" cy="4754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>
                <a:solidFill>
                  <a:srgbClr val="5A2D0C"/>
                </a:solidFill>
                <a:latin typeface="Heiti SC"/>
                <a:ea typeface="Heiti SC"/>
              </a:rPr>
              <a:t>·  士族家学 → 蒙学读物 → 族谱家规 → 民间日用。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5A2D0C"/>
                </a:solidFill>
                <a:latin typeface="Heiti SC"/>
                <a:ea typeface="Heiti SC"/>
              </a:rPr>
              <a:t>·  家训从门阀手中，走进私塾、宗族，最终融入百姓生活。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5A2D0C"/>
                </a:solidFill>
                <a:latin typeface="Heiti SC"/>
                <a:ea typeface="Heiti SC"/>
              </a:rPr>
              <a:t>·  这正是“大传统”走向“小传统”的转化路径。</a:t>
            </a:r>
          </a:p>
        </p:txBody>
      </p:sp>
      <p:pic>
        <p:nvPicPr>
          <p:cNvPr id="6" name="Picture 5" descr="fig_diffu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683969"/>
            <a:ext cx="6766560" cy="449590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5A2D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19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4592"/>
            <a:ext cx="10972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800"/>
              </a:spcAft>
            </a:pPr>
            <a:r>
              <a:rPr sz="2800" b="1">
                <a:solidFill>
                  <a:srgbClr val="FFFFFF"/>
                </a:solidFill>
                <a:latin typeface="Songti SC"/>
                <a:ea typeface="Songti SC"/>
              </a:rPr>
              <a:t>教化主题 · 数字人文里的生活智慧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4206240" cy="4754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>
                <a:solidFill>
                  <a:srgbClr val="5A2D0C"/>
                </a:solidFill>
                <a:latin typeface="Heiti SC"/>
                <a:ea typeface="Heiti SC"/>
              </a:rPr>
              <a:t>·  用 TF-IDF 字-bigram 方法，提取全书主题词。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5A2D0C"/>
                </a:solidFill>
                <a:latin typeface="Heiti SC"/>
                <a:ea typeface="Heiti SC"/>
              </a:rPr>
              <a:t>·  学、教、书、求益、读——高频教化关键词浮现。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5A2D0C"/>
                </a:solidFill>
                <a:latin typeface="Heiti SC"/>
                <a:ea typeface="Heiti SC"/>
              </a:rPr>
              <a:t>·  这些词，就是这部书教给中国人的生活智慧。</a:t>
            </a:r>
          </a:p>
        </p:txBody>
      </p:sp>
      <p:pic>
        <p:nvPicPr>
          <p:cNvPr id="6" name="Picture 5" descr="fig_wordclou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885915"/>
            <a:ext cx="6766560" cy="4092009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5A2D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19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4592"/>
            <a:ext cx="10972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800"/>
              </a:spcAft>
            </a:pPr>
            <a:r>
              <a:rPr sz="2800" b="1">
                <a:solidFill>
                  <a:srgbClr val="FFFFFF"/>
                </a:solidFill>
                <a:latin typeface="Songti SC"/>
                <a:ea typeface="Songti SC"/>
              </a:rPr>
              <a:t>互文网络 · 一条家训脉络的传承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4206240" cy="4754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>
                <a:solidFill>
                  <a:srgbClr val="5A2D0C"/>
                </a:solidFill>
                <a:latin typeface="Heiti SC"/>
                <a:ea typeface="Heiti SC"/>
              </a:rPr>
              <a:t>·  《颜氏家训》并非孤立存在。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5A2D0C"/>
                </a:solidFill>
                <a:latin typeface="Heiti SC"/>
                <a:ea typeface="Heiti SC"/>
              </a:rPr>
              <a:t>·  从《温公家范》到《朱子家训》，再到《弟子规》《三字经》。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5A2D0C"/>
                </a:solidFill>
                <a:latin typeface="Heiti SC"/>
                <a:ea typeface="Heiti SC"/>
              </a:rPr>
              <a:t>·  用相似检索还原一条清晰的知识传承网络。</a:t>
            </a:r>
          </a:p>
        </p:txBody>
      </p:sp>
      <p:pic>
        <p:nvPicPr>
          <p:cNvPr id="6" name="Picture 5" descr="fig_netwo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6857" y="1371600"/>
            <a:ext cx="3591245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5A2D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19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4592"/>
            <a:ext cx="10972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800"/>
              </a:spcAft>
            </a:pPr>
            <a:r>
              <a:rPr sz="2800" b="1">
                <a:solidFill>
                  <a:srgbClr val="FFFFFF"/>
                </a:solidFill>
                <a:latin typeface="Songti SC"/>
                <a:ea typeface="Songti SC"/>
              </a:rPr>
              <a:t>当代启示 · 千年智慧的今日回响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828800"/>
            <a:ext cx="9601200" cy="4206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5A2D0C"/>
                </a:solidFill>
                <a:latin typeface="Heiti SC"/>
                <a:ea typeface="Heiti SC"/>
              </a:rPr>
              <a:t>·  家风家教在今天被重新提起。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5A2D0C"/>
                </a:solidFill>
                <a:latin typeface="Heiti SC"/>
                <a:ea typeface="Heiti SC"/>
              </a:rPr>
              <a:t>·  古籍数字化，让千年典籍触手可及。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5A2D0C"/>
                </a:solidFill>
                <a:latin typeface="Heiti SC"/>
                <a:ea typeface="Heiti SC"/>
              </a:rPr>
              <a:t>·  典籍中的智慧，依然在回答当代人的生活问题。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ig_end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2377440"/>
            <a:ext cx="1033272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800"/>
              </a:spcAft>
            </a:pPr>
            <a:r>
              <a:rPr sz="6000" b="1">
                <a:solidFill>
                  <a:srgbClr val="F7F3EB"/>
                </a:solidFill>
                <a:latin typeface="Songti SC"/>
                <a:ea typeface="Songti SC"/>
              </a:rPr>
              <a:t>见物，更见人。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931920"/>
            <a:ext cx="94183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</a:pPr>
            <a:r>
              <a:rPr sz="2200" b="0">
                <a:solidFill>
                  <a:srgbClr val="C19A6B"/>
                </a:solidFill>
                <a:latin typeface="Songti SC"/>
                <a:ea typeface="Songti SC"/>
              </a:rPr>
              <a:t>一部书的生命史，就是无数普通人日常生活的精神史。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