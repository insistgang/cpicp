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6002000" cy="18935700"/>
  <p:notesSz cx="18935700" cy="1600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svg"/><Relationship Id="rId4" Type="http://schemas.openxmlformats.org/officeDocument/2006/relationships/image" Target="../media/image-1-4.png"/><Relationship Id="rId5" Type="http://schemas.openxmlformats.org/officeDocument/2006/relationships/image" Target="../media/image-1-5.svg"/><Relationship Id="rId6" Type="http://schemas.openxmlformats.org/officeDocument/2006/relationships/image" Target="../media/image-1-6.png"/><Relationship Id="rId7" Type="http://schemas.openxmlformats.org/officeDocument/2006/relationships/image" Target="../media/image-1-7.svg"/><Relationship Id="rId8" Type="http://schemas.openxmlformats.org/officeDocument/2006/relationships/image" Target="../media/image-1-8.png"/><Relationship Id="rId9" Type="http://schemas.openxmlformats.org/officeDocument/2006/relationships/image" Target="../media/image-1-9.sv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svg"/><Relationship Id="rId17" Type="http://schemas.openxmlformats.org/officeDocument/2006/relationships/image" Target="../media/image-1-17.png"/><Relationship Id="rId18" Type="http://schemas.openxmlformats.org/officeDocument/2006/relationships/image" Target="../media/image-1-18.svg"/><Relationship Id="rId19" Type="http://schemas.openxmlformats.org/officeDocument/2006/relationships/image" Target="../media/image-1-19.png"/><Relationship Id="rId20" Type="http://schemas.openxmlformats.org/officeDocument/2006/relationships/image" Target="../media/image-1-20.svg"/><Relationship Id="rId21" Type="http://schemas.openxmlformats.org/officeDocument/2006/relationships/image" Target="../media/image-1-21.png"/><Relationship Id="rId22" Type="http://schemas.openxmlformats.org/officeDocument/2006/relationships/image" Target="../media/image-1-22.svg"/><Relationship Id="rId23" Type="http://schemas.openxmlformats.org/officeDocument/2006/relationships/image" Target="../media/image-1-23.png"/><Relationship Id="rId24" Type="http://schemas.openxmlformats.org/officeDocument/2006/relationships/image" Target="../media/image-1-24.svg"/><Relationship Id="rId25" Type="http://schemas.openxmlformats.org/officeDocument/2006/relationships/image" Target="../media/image-1-25.png"/><Relationship Id="rId26" Type="http://schemas.openxmlformats.org/officeDocument/2006/relationships/image" Target="../media/image-1-26.svg"/><Relationship Id="rId27" Type="http://schemas.openxmlformats.org/officeDocument/2006/relationships/image" Target="../media/image-1-27.png"/><Relationship Id="rId28" Type="http://schemas.openxmlformats.org/officeDocument/2006/relationships/image" Target="../media/image-1-28.svg"/><Relationship Id="rId29" Type="http://schemas.openxmlformats.org/officeDocument/2006/relationships/image" Target="../media/image-1-29.png"/><Relationship Id="rId30" Type="http://schemas.openxmlformats.org/officeDocument/2006/relationships/image" Target="../media/image-1-30.svg"/><Relationship Id="rId31" Type="http://schemas.openxmlformats.org/officeDocument/2006/relationships/image" Target="../media/image-1-31.png"/><Relationship Id="rId32" Type="http://schemas.openxmlformats.org/officeDocument/2006/relationships/image" Target="../media/image-1-32.png"/><Relationship Id="rId33" Type="http://schemas.openxmlformats.org/officeDocument/2006/relationships/image" Target="../media/image-1-33.svg"/><Relationship Id="rId34" Type="http://schemas.openxmlformats.org/officeDocument/2006/relationships/image" Target="../media/image-1-34.png"/><Relationship Id="rId35" Type="http://schemas.openxmlformats.org/officeDocument/2006/relationships/image" Target="../media/image-1-35.svg"/><Relationship Id="rId36" Type="http://schemas.openxmlformats.org/officeDocument/2006/relationships/image" Target="../media/image-1-36.png"/><Relationship Id="rId37" Type="http://schemas.openxmlformats.org/officeDocument/2006/relationships/image" Target="../media/image-1-37.svg"/><Relationship Id="rId38" Type="http://schemas.openxmlformats.org/officeDocument/2006/relationships/image" Target="../media/image-1-38.png"/><Relationship Id="rId39" Type="http://schemas.openxmlformats.org/officeDocument/2006/relationships/image" Target="../media/image-1-39.svg"/><Relationship Id="rId40" Type="http://schemas.openxmlformats.org/officeDocument/2006/relationships/image" Target="../media/image-1-40.png"/><Relationship Id="rId41" Type="http://schemas.openxmlformats.org/officeDocument/2006/relationships/image" Target="../media/image-1-41.png"/><Relationship Id="rId42" Type="http://schemas.openxmlformats.org/officeDocument/2006/relationships/image" Target="../media/image-1-42.png"/><Relationship Id="rId43" Type="http://schemas.openxmlformats.org/officeDocument/2006/relationships/image" Target="../media/image-1-43.svg"/><Relationship Id="rId44" Type="http://schemas.openxmlformats.org/officeDocument/2006/relationships/image" Target="../media/image-1-44.png"/><Relationship Id="rId45" Type="http://schemas.openxmlformats.org/officeDocument/2006/relationships/image" Target="../media/image-1-45.svg"/><Relationship Id="rId46" Type="http://schemas.openxmlformats.org/officeDocument/2006/relationships/image" Target="../media/image-1-46.png"/><Relationship Id="rId47" Type="http://schemas.openxmlformats.org/officeDocument/2006/relationships/image" Target="../media/image-1-47.svg"/><Relationship Id="rId48" Type="http://schemas.openxmlformats.org/officeDocument/2006/relationships/image" Target="../media/image-1-48.png"/><Relationship Id="rId49" Type="http://schemas.openxmlformats.org/officeDocument/2006/relationships/image" Target="../media/image-1-49.svg"/><Relationship Id="rId50" Type="http://schemas.openxmlformats.org/officeDocument/2006/relationships/image" Target="../media/image-1-50.png"/><Relationship Id="rId51" Type="http://schemas.openxmlformats.org/officeDocument/2006/relationships/image" Target="../media/image-1-51.png"/><Relationship Id="rId52" Type="http://schemas.openxmlformats.org/officeDocument/2006/relationships/image" Target="../media/image-1-52.png"/><Relationship Id="rId53" Type="http://schemas.openxmlformats.org/officeDocument/2006/relationships/image" Target="../media/image-1-53.png"/><Relationship Id="rId54" Type="http://schemas.openxmlformats.org/officeDocument/2006/relationships/image" Target="../media/image-1-54.png"/><Relationship Id="rId55" Type="http://schemas.openxmlformats.org/officeDocument/2006/relationships/image" Target="../media/image-1-55.svg"/><Relationship Id="rId56" Type="http://schemas.openxmlformats.org/officeDocument/2006/relationships/image" Target="../media/image-1-56.png"/><Relationship Id="rId57" Type="http://schemas.openxmlformats.org/officeDocument/2006/relationships/image" Target="../media/image-1-57.svg"/><Relationship Id="rId58" Type="http://schemas.openxmlformats.org/officeDocument/2006/relationships/image" Target="../media/image-1-58.png"/><Relationship Id="rId59" Type="http://schemas.openxmlformats.org/officeDocument/2006/relationships/image" Target="../media/image-1-59.svg"/><Relationship Id="rId60" Type="http://schemas.openxmlformats.org/officeDocument/2006/relationships/image" Target="../media/image-1-60.png"/><Relationship Id="rId61" Type="http://schemas.openxmlformats.org/officeDocument/2006/relationships/image" Target="../media/image-1-61.svg"/><Relationship Id="rId62" Type="http://schemas.openxmlformats.org/officeDocument/2006/relationships/image" Target="../media/image-1-62.png"/><Relationship Id="rId63" Type="http://schemas.openxmlformats.org/officeDocument/2006/relationships/image" Target="../media/image-1-63.svg"/><Relationship Id="rId64" Type="http://schemas.openxmlformats.org/officeDocument/2006/relationships/image" Target="../media/image-1-64.png"/><Relationship Id="rId65" Type="http://schemas.openxmlformats.org/officeDocument/2006/relationships/image" Target="../media/image-1-65.png"/><Relationship Id="rId66" Type="http://schemas.openxmlformats.org/officeDocument/2006/relationships/image" Target="../media/image-1-66.png"/><Relationship Id="rId67" Type="http://schemas.openxmlformats.org/officeDocument/2006/relationships/image" Target="../media/image-1-67.png"/><Relationship Id="rId68" Type="http://schemas.openxmlformats.org/officeDocument/2006/relationships/image" Target="../media/image-1-68.png"/><Relationship Id="rId69" Type="http://schemas.openxmlformats.org/officeDocument/2006/relationships/image" Target="../media/image-1-69.png"/><Relationship Id="rId70" Type="http://schemas.openxmlformats.org/officeDocument/2006/relationships/image" Target="../media/image-1-70.png"/><Relationship Id="rId71" Type="http://schemas.openxmlformats.org/officeDocument/2006/relationships/image" Target="../media/image-1-71.png"/><Relationship Id="rId72" Type="http://schemas.openxmlformats.org/officeDocument/2006/relationships/image" Target="../media/image-1-72.png"/><Relationship Id="rId73" Type="http://schemas.openxmlformats.org/officeDocument/2006/relationships/image" Target="../media/image-1-73.svg"/><Relationship Id="rId74" Type="http://schemas.openxmlformats.org/officeDocument/2006/relationships/image" Target="../media/image-1-74.png"/><Relationship Id="rId75" Type="http://schemas.openxmlformats.org/officeDocument/2006/relationships/image" Target="../media/image-1-75.svg"/><Relationship Id="rId76" Type="http://schemas.openxmlformats.org/officeDocument/2006/relationships/image" Target="../media/image-1-76.png"/><Relationship Id="rId77" Type="http://schemas.openxmlformats.org/officeDocument/2006/relationships/image" Target="../media/image-1-77.svg"/><Relationship Id="rId78" Type="http://schemas.openxmlformats.org/officeDocument/2006/relationships/image" Target="../media/image-1-78.png"/><Relationship Id="rId79" Type="http://schemas.openxmlformats.org/officeDocument/2006/relationships/image" Target="../media/image-1-79.svg"/><Relationship Id="rId80" Type="http://schemas.openxmlformats.org/officeDocument/2006/relationships/slideLayout" Target="../slideLayouts/slideLayout1.xml"/><Relationship Id="rId81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BE4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86744"/>
            <a:ext cx="16002000" cy="19050"/>
          </a:xfrm>
          <a:prstGeom prst="rect">
            <a:avLst/>
          </a:prstGeom>
          <a:solidFill>
            <a:srgbClr val="C9C1A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1" r="0" t="0" b="0"/>
          <a:stretch/>
        </p:blipFill>
        <p:spPr>
          <a:xfrm>
            <a:off x="12660362" y="0"/>
            <a:ext cx="3341638" cy="242388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38150" y="228600"/>
            <a:ext cx="10896600" cy="553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900" b="1" spc="150" kern="0" dirty="0">
                <a:solidFill>
                  <a:srgbClr val="2B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仿蛇牙单向固持柔性抓手设计</a:t>
            </a:r>
            <a:endParaRPr lang="en-US" sz="3900" dirty="0"/>
          </a:p>
        </p:txBody>
      </p:sp>
      <p:sp>
        <p:nvSpPr>
          <p:cNvPr id="5" name="Text 2"/>
          <p:cNvSpPr/>
          <p:nvPr/>
        </p:nvSpPr>
        <p:spPr>
          <a:xfrm>
            <a:off x="438150" y="819894"/>
            <a:ext cx="108966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spc="75" kern="0" dirty="0">
                <a:solidFill>
                  <a:srgbClr val="4F5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—— 基于蟒蛇内弯牙齿单向固持机制的仿生研究</a:t>
            </a:r>
            <a:endParaRPr lang="en-US" sz="1725" dirty="0"/>
          </a:p>
        </p:txBody>
      </p:sp>
      <p:sp>
        <p:nvSpPr>
          <p:cNvPr id="6" name="Text 3"/>
          <p:cNvSpPr/>
          <p:nvPr/>
        </p:nvSpPr>
        <p:spPr>
          <a:xfrm>
            <a:off x="438150" y="1191369"/>
            <a:ext cx="108966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216" kern="0" dirty="0">
                <a:solidFill>
                  <a:srgbClr val="3F45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BOA-TOOTH INSPIRED DIRECTIONAL GRIP SOFT GRIPPER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38150" y="1410444"/>
            <a:ext cx="108966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8A8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Biomimetic Research on Boa Constrictor Inner-Curved Teeth for Directional Grip &amp; One-Way Retention</a:t>
            </a:r>
            <a:endParaRPr lang="en-US" sz="975" dirty="0"/>
          </a:p>
        </p:txBody>
      </p:sp>
      <p:sp>
        <p:nvSpPr>
          <p:cNvPr id="8" name="Shape 5"/>
          <p:cNvSpPr/>
          <p:nvPr/>
        </p:nvSpPr>
        <p:spPr>
          <a:xfrm>
            <a:off x="438150" y="1677144"/>
            <a:ext cx="438150" cy="438150"/>
          </a:xfrm>
          <a:prstGeom prst="ellipse">
            <a:avLst/>
          </a:prstGeom>
          <a:solidFill>
            <a:srgbClr val="4F5733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2925" y="1781919"/>
            <a:ext cx="228600" cy="228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81075" y="1736675"/>
            <a:ext cx="1552062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方向性固持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981075" y="1950988"/>
            <a:ext cx="1552062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60" kern="0" dirty="0">
                <a:solidFill>
                  <a:srgbClr val="7C7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DIRECTIONAL ANCHORING</a:t>
            </a:r>
            <a:endParaRPr lang="en-US" sz="750" dirty="0"/>
          </a:p>
        </p:txBody>
      </p:sp>
      <p:sp>
        <p:nvSpPr>
          <p:cNvPr id="12" name="Shape 8"/>
          <p:cNvSpPr/>
          <p:nvPr/>
        </p:nvSpPr>
        <p:spPr>
          <a:xfrm>
            <a:off x="2677790" y="1677144"/>
            <a:ext cx="438150" cy="438150"/>
          </a:xfrm>
          <a:prstGeom prst="ellipse">
            <a:avLst/>
          </a:prstGeom>
          <a:solidFill>
            <a:srgbClr val="4F5733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82565" y="1781919"/>
            <a:ext cx="22860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220715" y="1736675"/>
            <a:ext cx="1345704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受力放大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3220715" y="1950988"/>
            <a:ext cx="1345704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60" kern="0" dirty="0">
                <a:solidFill>
                  <a:srgbClr val="7C7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 AMPLIFICATION</a:t>
            </a:r>
            <a:endParaRPr lang="en-US" sz="750" dirty="0"/>
          </a:p>
        </p:txBody>
      </p:sp>
      <p:sp>
        <p:nvSpPr>
          <p:cNvPr id="16" name="Shape 11"/>
          <p:cNvSpPr/>
          <p:nvPr/>
        </p:nvSpPr>
        <p:spPr>
          <a:xfrm>
            <a:off x="4729832" y="1677144"/>
            <a:ext cx="438150" cy="438150"/>
          </a:xfrm>
          <a:prstGeom prst="ellipse">
            <a:avLst/>
          </a:prstGeom>
          <a:solidFill>
            <a:srgbClr val="4F5733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34607" y="1781919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272757" y="1736675"/>
            <a:ext cx="1244575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防滑牢靠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5272757" y="1950988"/>
            <a:ext cx="1244575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60" kern="0" dirty="0">
                <a:solidFill>
                  <a:srgbClr val="7C7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ANTI-SLIP RETENTION</a:t>
            </a:r>
            <a:endParaRPr lang="en-US" sz="750" dirty="0"/>
          </a:p>
        </p:txBody>
      </p:sp>
      <p:sp>
        <p:nvSpPr>
          <p:cNvPr id="20" name="Shape 14"/>
          <p:cNvSpPr/>
          <p:nvPr/>
        </p:nvSpPr>
        <p:spPr>
          <a:xfrm>
            <a:off x="6726882" y="1677144"/>
            <a:ext cx="438150" cy="438150"/>
          </a:xfrm>
          <a:prstGeom prst="ellipse">
            <a:avLst/>
          </a:prstGeom>
          <a:solidFill>
            <a:srgbClr val="4F5733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831657" y="1781919"/>
            <a:ext cx="228600" cy="2286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269807" y="1736675"/>
            <a:ext cx="1523412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低能高效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7269807" y="1950988"/>
            <a:ext cx="1523412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60" kern="0" dirty="0">
                <a:solidFill>
                  <a:srgbClr val="7C7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LOW-ENERGY EFFICIENCY</a:t>
            </a:r>
            <a:endParaRPr lang="en-US" sz="750" dirty="0"/>
          </a:p>
        </p:txBody>
      </p:sp>
      <p:sp>
        <p:nvSpPr>
          <p:cNvPr id="24" name="Shape 17"/>
          <p:cNvSpPr/>
          <p:nvPr/>
        </p:nvSpPr>
        <p:spPr>
          <a:xfrm>
            <a:off x="247650" y="2448669"/>
            <a:ext cx="5334000" cy="2715890"/>
          </a:xfrm>
          <a:prstGeom prst="roundRect">
            <a:avLst>
              <a:gd name="adj" fmla="val 3156"/>
            </a:avLst>
          </a:prstGeom>
          <a:solidFill>
            <a:srgbClr val="F6F3EA"/>
          </a:solidFill>
          <a:ln w="9525">
            <a:solidFill>
              <a:srgbClr val="DDD6C4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409575" y="2958257"/>
            <a:ext cx="5010150" cy="9525"/>
          </a:xfrm>
          <a:prstGeom prst="rect">
            <a:avLst/>
          </a:prstGeom>
          <a:solidFill>
            <a:srgbClr val="E3DDCC"/>
          </a:solidFill>
          <a:ln/>
        </p:spPr>
      </p:sp>
      <p:sp>
        <p:nvSpPr>
          <p:cNvPr id="26" name="Text 19"/>
          <p:cNvSpPr/>
          <p:nvPr/>
        </p:nvSpPr>
        <p:spPr>
          <a:xfrm>
            <a:off x="409575" y="2586782"/>
            <a:ext cx="26684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B73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endParaRPr lang="en-US" sz="1800" dirty="0"/>
          </a:p>
        </p:txBody>
      </p:sp>
      <p:sp>
        <p:nvSpPr>
          <p:cNvPr id="27" name="Text 20"/>
          <p:cNvSpPr/>
          <p:nvPr/>
        </p:nvSpPr>
        <p:spPr>
          <a:xfrm>
            <a:off x="685949" y="2553444"/>
            <a:ext cx="99060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生物简介</a:t>
            </a:r>
            <a:endParaRPr lang="en-US" sz="1800" dirty="0"/>
          </a:p>
        </p:txBody>
      </p:sp>
      <p:sp>
        <p:nvSpPr>
          <p:cNvPr id="28" name="Text 21"/>
          <p:cNvSpPr/>
          <p:nvPr/>
        </p:nvSpPr>
        <p:spPr>
          <a:xfrm>
            <a:off x="1686074" y="2682032"/>
            <a:ext cx="168655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17" kern="0" dirty="0">
                <a:solidFill>
                  <a:srgbClr val="9A9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BIO INTRODUCTION</a:t>
            </a:r>
            <a:endParaRPr lang="en-US" sz="975" dirty="0"/>
          </a:p>
        </p:txBody>
      </p:sp>
      <p:sp>
        <p:nvSpPr>
          <p:cNvPr id="29" name="Text 22"/>
          <p:cNvSpPr/>
          <p:nvPr/>
        </p:nvSpPr>
        <p:spPr>
          <a:xfrm>
            <a:off x="409575" y="3091607"/>
            <a:ext cx="3512249" cy="13300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238" dirty="0">
                <a:solidFill>
                  <a:srgbClr val="3C3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红尾蚺（Boa constrictor）是一种大型无毒蛇类，主要以伏击方式捕食哺乳动物与鸟类。其内弯后倾的牙齿结构并不用于撕裂，而是作为 </a:t>
            </a:r>
            <a:pPr algn="l" indent="0" marL="0">
              <a:lnSpc>
                <a:spcPct val="162000"/>
              </a:lnSpc>
              <a:buNone/>
            </a:pPr>
            <a:r>
              <a:rPr lang="en-US" sz="1238" b="1" dirty="0">
                <a:solidFill>
                  <a:srgbClr val="4F5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"锚点" </a:t>
            </a:r>
            <a:pPr algn="l" indent="0" marL="0">
              <a:lnSpc>
                <a:spcPct val="162000"/>
              </a:lnSpc>
              <a:buNone/>
            </a:pPr>
            <a:r>
              <a:rPr lang="en-US" sz="1238" dirty="0">
                <a:solidFill>
                  <a:srgbClr val="3C3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深度嵌入猎物组织，配合缠绕收缩，实现高效、可靠的被动固持与致死。</a:t>
            </a:r>
            <a:endParaRPr lang="en-US" sz="1238" dirty="0"/>
          </a:p>
        </p:txBody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90975" y="3091607"/>
            <a:ext cx="1428750" cy="1042541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409575" y="4516859"/>
            <a:ext cx="5010150" cy="9525"/>
          </a:xfrm>
          <a:prstGeom prst="rect">
            <a:avLst/>
          </a:prstGeom>
          <a:solidFill>
            <a:srgbClr val="D8D1BF"/>
          </a:solidFill>
          <a:ln/>
        </p:spPr>
      </p:sp>
      <p:sp>
        <p:nvSpPr>
          <p:cNvPr id="32" name="Text 24"/>
          <p:cNvSpPr/>
          <p:nvPr/>
        </p:nvSpPr>
        <p:spPr>
          <a:xfrm>
            <a:off x="409575" y="4602584"/>
            <a:ext cx="262985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88" dirty="0">
                <a:solidFill>
                  <a:srgbClr val="8A8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物种</a:t>
            </a:r>
            <a:pPr algn="l" indent="0" marL="0">
              <a:buNone/>
            </a:pPr>
            <a:r>
              <a:rPr lang="en-US" sz="1088" dirty="0">
                <a:solidFill>
                  <a:srgbClr val="5A5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红尾蚺 Boa constrictor</a:t>
            </a:r>
            <a:endParaRPr lang="en-US" sz="1088" dirty="0"/>
          </a:p>
        </p:txBody>
      </p:sp>
      <p:sp>
        <p:nvSpPr>
          <p:cNvPr id="33" name="Text 25"/>
          <p:cNvSpPr/>
          <p:nvPr/>
        </p:nvSpPr>
        <p:spPr>
          <a:xfrm>
            <a:off x="3028950" y="4602584"/>
            <a:ext cx="262985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88" dirty="0">
                <a:solidFill>
                  <a:srgbClr val="8A8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分布</a:t>
            </a:r>
            <a:pPr algn="l" indent="0" marL="0">
              <a:buNone/>
            </a:pPr>
            <a:r>
              <a:rPr lang="en-US" sz="1088" dirty="0">
                <a:solidFill>
                  <a:srgbClr val="5A5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中南美洲</a:t>
            </a:r>
            <a:endParaRPr lang="en-US" sz="1088" dirty="0"/>
          </a:p>
        </p:txBody>
      </p:sp>
      <p:sp>
        <p:nvSpPr>
          <p:cNvPr id="34" name="Text 26"/>
          <p:cNvSpPr/>
          <p:nvPr/>
        </p:nvSpPr>
        <p:spPr>
          <a:xfrm>
            <a:off x="409575" y="4859759"/>
            <a:ext cx="262985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88" dirty="0">
                <a:solidFill>
                  <a:srgbClr val="8A8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栖息地</a:t>
            </a:r>
            <a:pPr algn="l" indent="0" marL="0">
              <a:buNone/>
            </a:pPr>
            <a:r>
              <a:rPr lang="en-US" sz="1088" dirty="0">
                <a:solidFill>
                  <a:srgbClr val="5A5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热带雨林·灌丛·农田</a:t>
            </a:r>
            <a:endParaRPr lang="en-US" sz="1088" dirty="0"/>
          </a:p>
        </p:txBody>
      </p:sp>
      <p:sp>
        <p:nvSpPr>
          <p:cNvPr id="35" name="Text 27"/>
          <p:cNvSpPr/>
          <p:nvPr/>
        </p:nvSpPr>
        <p:spPr>
          <a:xfrm>
            <a:off x="3028950" y="4859759"/>
            <a:ext cx="262985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88" dirty="0">
                <a:solidFill>
                  <a:srgbClr val="8A8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捕食</a:t>
            </a:r>
            <a:pPr algn="l" indent="0" marL="0">
              <a:buNone/>
            </a:pPr>
            <a:r>
              <a:rPr lang="en-US" sz="1088" dirty="0">
                <a:solidFill>
                  <a:srgbClr val="5A5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伏击·咬合·缠绕</a:t>
            </a:r>
            <a:endParaRPr lang="en-US" sz="1088" dirty="0"/>
          </a:p>
        </p:txBody>
      </p:sp>
      <p:sp>
        <p:nvSpPr>
          <p:cNvPr id="36" name="Shape 28"/>
          <p:cNvSpPr/>
          <p:nvPr/>
        </p:nvSpPr>
        <p:spPr>
          <a:xfrm>
            <a:off x="5772150" y="2448669"/>
            <a:ext cx="9982200" cy="2715890"/>
          </a:xfrm>
          <a:prstGeom prst="roundRect">
            <a:avLst>
              <a:gd name="adj" fmla="val 3156"/>
            </a:avLst>
          </a:prstGeom>
          <a:solidFill>
            <a:srgbClr val="F6F3EA"/>
          </a:solidFill>
          <a:ln w="9525">
            <a:solidFill>
              <a:srgbClr val="DDD6C4"/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5934075" y="2958257"/>
            <a:ext cx="9658350" cy="9525"/>
          </a:xfrm>
          <a:prstGeom prst="rect">
            <a:avLst/>
          </a:prstGeom>
          <a:solidFill>
            <a:srgbClr val="E3DDCC"/>
          </a:solidFill>
          <a:ln/>
        </p:spPr>
      </p:sp>
      <p:sp>
        <p:nvSpPr>
          <p:cNvPr id="38" name="Text 30"/>
          <p:cNvSpPr/>
          <p:nvPr/>
        </p:nvSpPr>
        <p:spPr>
          <a:xfrm>
            <a:off x="5934075" y="2586782"/>
            <a:ext cx="26684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B73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endParaRPr lang="en-US" sz="1800" dirty="0"/>
          </a:p>
        </p:txBody>
      </p:sp>
      <p:sp>
        <p:nvSpPr>
          <p:cNvPr id="39" name="Text 31"/>
          <p:cNvSpPr/>
          <p:nvPr/>
        </p:nvSpPr>
        <p:spPr>
          <a:xfrm>
            <a:off x="6210449" y="2553444"/>
            <a:ext cx="150876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结构层级解析</a:t>
            </a:r>
            <a:endParaRPr lang="en-US" sz="1800" dirty="0"/>
          </a:p>
        </p:txBody>
      </p:sp>
      <p:sp>
        <p:nvSpPr>
          <p:cNvPr id="40" name="Text 32"/>
          <p:cNvSpPr/>
          <p:nvPr/>
        </p:nvSpPr>
        <p:spPr>
          <a:xfrm>
            <a:off x="7667774" y="2682032"/>
            <a:ext cx="2186032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17" kern="0" dirty="0">
                <a:solidFill>
                  <a:srgbClr val="9A9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STRUCTURAL HIERARCHY</a:t>
            </a:r>
            <a:endParaRPr lang="en-US" sz="975" dirty="0"/>
          </a:p>
        </p:txBody>
      </p:sp>
      <p:sp>
        <p:nvSpPr>
          <p:cNvPr id="41" name="Shape 33"/>
          <p:cNvSpPr/>
          <p:nvPr/>
        </p:nvSpPr>
        <p:spPr>
          <a:xfrm>
            <a:off x="5934075" y="3091607"/>
            <a:ext cx="2321719" cy="952500"/>
          </a:xfrm>
          <a:prstGeom prst="roundRect">
            <a:avLst>
              <a:gd name="adj" fmla="val 7000"/>
            </a:avLst>
          </a:prstGeom>
          <a:ln w="9525">
            <a:solidFill>
              <a:srgbClr val="E0D9C7"/>
            </a:solidFill>
            <a:prstDash val="solid"/>
          </a:ln>
        </p:spPr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11"/>
          <a:srcRect l="0" r="0" t="23620" b="41990"/>
          <a:stretch/>
        </p:blipFill>
        <p:spPr>
          <a:xfrm>
            <a:off x="5943600" y="3101132"/>
            <a:ext cx="2302669" cy="933450"/>
          </a:xfrm>
          <a:prstGeom prst="rect">
            <a:avLst/>
          </a:prstGeom>
        </p:spPr>
      </p:pic>
      <p:sp>
        <p:nvSpPr>
          <p:cNvPr id="43" name="Shape 34"/>
          <p:cNvSpPr/>
          <p:nvPr/>
        </p:nvSpPr>
        <p:spPr>
          <a:xfrm>
            <a:off x="6000750" y="3158282"/>
            <a:ext cx="190500" cy="190500"/>
          </a:xfrm>
          <a:prstGeom prst="ellipse">
            <a:avLst/>
          </a:prstGeom>
          <a:solidFill>
            <a:srgbClr val="4F5733"/>
          </a:solidFill>
          <a:ln/>
        </p:spPr>
      </p:sp>
      <p:sp>
        <p:nvSpPr>
          <p:cNvPr id="44" name="Text 35"/>
          <p:cNvSpPr/>
          <p:nvPr/>
        </p:nvSpPr>
        <p:spPr>
          <a:xfrm>
            <a:off x="5962650" y="3158282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900" dirty="0"/>
          </a:p>
        </p:txBody>
      </p:sp>
      <p:sp>
        <p:nvSpPr>
          <p:cNvPr id="45" name="Text 36"/>
          <p:cNvSpPr/>
          <p:nvPr/>
        </p:nvSpPr>
        <p:spPr>
          <a:xfrm>
            <a:off x="5934075" y="4110782"/>
            <a:ext cx="2553891" cy="2181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13" dirty="0">
                <a:solidFill>
                  <a:srgbClr val="424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头部与口腔整体形态</a:t>
            </a:r>
            <a:endParaRPr lang="en-US" sz="1013" dirty="0"/>
          </a:p>
        </p:txBody>
      </p:sp>
      <p:sp>
        <p:nvSpPr>
          <p:cNvPr id="46" name="Shape 37"/>
          <p:cNvSpPr/>
          <p:nvPr/>
        </p:nvSpPr>
        <p:spPr>
          <a:xfrm>
            <a:off x="8379619" y="3091607"/>
            <a:ext cx="2321719" cy="9525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0D9C7"/>
            </a:solidFill>
            <a:prstDash val="solid"/>
          </a:ln>
        </p:spPr>
      </p:sp>
      <p:pic>
        <p:nvPicPr>
          <p:cNvPr id="47" name="Image 7" descr="preencoded.png">    </p:cNvPr>
          <p:cNvPicPr>
            <a:picLocks noChangeAspect="1"/>
          </p:cNvPicPr>
          <p:nvPr/>
        </p:nvPicPr>
        <p:blipFill>
          <a:blip r:embed="rId12"/>
          <a:srcRect l="0" r="0" t="35500" b="35500"/>
          <a:stretch/>
        </p:blipFill>
        <p:spPr>
          <a:xfrm>
            <a:off x="8389144" y="3101132"/>
            <a:ext cx="2302669" cy="933450"/>
          </a:xfrm>
          <a:prstGeom prst="rect">
            <a:avLst/>
          </a:prstGeom>
        </p:spPr>
      </p:pic>
      <p:sp>
        <p:nvSpPr>
          <p:cNvPr id="48" name="Shape 38"/>
          <p:cNvSpPr/>
          <p:nvPr/>
        </p:nvSpPr>
        <p:spPr>
          <a:xfrm>
            <a:off x="8446294" y="3158282"/>
            <a:ext cx="190500" cy="190500"/>
          </a:xfrm>
          <a:prstGeom prst="ellipse">
            <a:avLst/>
          </a:prstGeom>
          <a:solidFill>
            <a:srgbClr val="4F5733"/>
          </a:solidFill>
          <a:ln/>
        </p:spPr>
      </p:sp>
      <p:sp>
        <p:nvSpPr>
          <p:cNvPr id="49" name="Text 39"/>
          <p:cNvSpPr/>
          <p:nvPr/>
        </p:nvSpPr>
        <p:spPr>
          <a:xfrm>
            <a:off x="8408194" y="3158282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900" dirty="0"/>
          </a:p>
        </p:txBody>
      </p:sp>
      <p:sp>
        <p:nvSpPr>
          <p:cNvPr id="50" name="Text 40"/>
          <p:cNvSpPr/>
          <p:nvPr/>
        </p:nvSpPr>
        <p:spPr>
          <a:xfrm>
            <a:off x="8379619" y="4110782"/>
            <a:ext cx="2553891" cy="2181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13" dirty="0">
                <a:solidFill>
                  <a:srgbClr val="424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上下颌多排牙齿排列</a:t>
            </a:r>
            <a:endParaRPr lang="en-US" sz="1013" dirty="0"/>
          </a:p>
        </p:txBody>
      </p:sp>
      <p:sp>
        <p:nvSpPr>
          <p:cNvPr id="51" name="Shape 41"/>
          <p:cNvSpPr/>
          <p:nvPr/>
        </p:nvSpPr>
        <p:spPr>
          <a:xfrm>
            <a:off x="10825163" y="3091607"/>
            <a:ext cx="2321719" cy="952500"/>
          </a:xfrm>
          <a:prstGeom prst="roundRect">
            <a:avLst>
              <a:gd name="adj" fmla="val 7000"/>
            </a:avLst>
          </a:prstGeom>
          <a:ln w="9525">
            <a:solidFill>
              <a:srgbClr val="E0D9C7"/>
            </a:solidFill>
            <a:prstDash val="solid"/>
          </a:ln>
        </p:spPr>
      </p:sp>
      <p:pic>
        <p:nvPicPr>
          <p:cNvPr id="52" name="Image 8" descr="preencoded.png">    </p:cNvPr>
          <p:cNvPicPr>
            <a:picLocks noChangeAspect="1"/>
          </p:cNvPicPr>
          <p:nvPr/>
        </p:nvPicPr>
        <p:blipFill>
          <a:blip r:embed="rId13"/>
          <a:srcRect l="0" r="0" t="38552" b="38552"/>
          <a:stretch/>
        </p:blipFill>
        <p:spPr>
          <a:xfrm>
            <a:off x="10834688" y="3101132"/>
            <a:ext cx="2302669" cy="933450"/>
          </a:xfrm>
          <a:prstGeom prst="rect">
            <a:avLst/>
          </a:prstGeom>
        </p:spPr>
      </p:pic>
      <p:sp>
        <p:nvSpPr>
          <p:cNvPr id="53" name="Shape 42"/>
          <p:cNvSpPr/>
          <p:nvPr/>
        </p:nvSpPr>
        <p:spPr>
          <a:xfrm>
            <a:off x="10891838" y="3158282"/>
            <a:ext cx="190500" cy="190500"/>
          </a:xfrm>
          <a:prstGeom prst="ellipse">
            <a:avLst/>
          </a:prstGeom>
          <a:solidFill>
            <a:srgbClr val="4F5733"/>
          </a:solidFill>
          <a:ln/>
        </p:spPr>
      </p:sp>
      <p:sp>
        <p:nvSpPr>
          <p:cNvPr id="54" name="Text 43"/>
          <p:cNvSpPr/>
          <p:nvPr/>
        </p:nvSpPr>
        <p:spPr>
          <a:xfrm>
            <a:off x="10853738" y="3158282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900" dirty="0"/>
          </a:p>
        </p:txBody>
      </p:sp>
      <p:sp>
        <p:nvSpPr>
          <p:cNvPr id="55" name="Text 44"/>
          <p:cNvSpPr/>
          <p:nvPr/>
        </p:nvSpPr>
        <p:spPr>
          <a:xfrm>
            <a:off x="10825163" y="4110782"/>
            <a:ext cx="2553891" cy="2181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13" dirty="0">
                <a:solidFill>
                  <a:srgbClr val="424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单颗牙齿放大结构</a:t>
            </a:r>
            <a:endParaRPr lang="en-US" sz="1013" dirty="0"/>
          </a:p>
        </p:txBody>
      </p:sp>
      <p:sp>
        <p:nvSpPr>
          <p:cNvPr id="56" name="Shape 45"/>
          <p:cNvSpPr/>
          <p:nvPr/>
        </p:nvSpPr>
        <p:spPr>
          <a:xfrm>
            <a:off x="13270706" y="3091607"/>
            <a:ext cx="2321719" cy="9525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0D9C7"/>
            </a:solidFill>
            <a:prstDash val="solid"/>
          </a:ln>
        </p:spPr>
      </p:sp>
      <p:pic>
        <p:nvPicPr>
          <p:cNvPr id="57" name="Image 9" descr="preencoded.png">    </p:cNvPr>
          <p:cNvPicPr>
            <a:picLocks noChangeAspect="1"/>
          </p:cNvPicPr>
          <p:nvPr/>
        </p:nvPicPr>
        <p:blipFill>
          <a:blip r:embed="rId14"/>
          <a:srcRect l="0" r="0" t="37074" b="37074"/>
          <a:stretch/>
        </p:blipFill>
        <p:spPr>
          <a:xfrm>
            <a:off x="13280231" y="3101132"/>
            <a:ext cx="2302669" cy="933450"/>
          </a:xfrm>
          <a:prstGeom prst="rect">
            <a:avLst/>
          </a:prstGeom>
        </p:spPr>
      </p:pic>
      <p:sp>
        <p:nvSpPr>
          <p:cNvPr id="58" name="Shape 46"/>
          <p:cNvSpPr/>
          <p:nvPr/>
        </p:nvSpPr>
        <p:spPr>
          <a:xfrm>
            <a:off x="13337381" y="3158282"/>
            <a:ext cx="190500" cy="190500"/>
          </a:xfrm>
          <a:prstGeom prst="ellipse">
            <a:avLst/>
          </a:prstGeom>
          <a:solidFill>
            <a:srgbClr val="4F5733"/>
          </a:solidFill>
          <a:ln/>
        </p:spPr>
      </p:sp>
      <p:sp>
        <p:nvSpPr>
          <p:cNvPr id="59" name="Text 47"/>
          <p:cNvSpPr/>
          <p:nvPr/>
        </p:nvSpPr>
        <p:spPr>
          <a:xfrm>
            <a:off x="13299281" y="3158282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900" dirty="0"/>
          </a:p>
        </p:txBody>
      </p:sp>
      <p:sp>
        <p:nvSpPr>
          <p:cNvPr id="60" name="Text 48"/>
          <p:cNvSpPr/>
          <p:nvPr/>
        </p:nvSpPr>
        <p:spPr>
          <a:xfrm>
            <a:off x="13270706" y="4110782"/>
            <a:ext cx="2553891" cy="2181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13" dirty="0">
                <a:solidFill>
                  <a:srgbClr val="424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单向固持工作机制</a:t>
            </a:r>
            <a:endParaRPr lang="en-US" sz="1013" dirty="0"/>
          </a:p>
        </p:txBody>
      </p:sp>
      <p:sp>
        <p:nvSpPr>
          <p:cNvPr id="61" name="Shape 49"/>
          <p:cNvSpPr/>
          <p:nvPr/>
        </p:nvSpPr>
        <p:spPr>
          <a:xfrm>
            <a:off x="247650" y="5259809"/>
            <a:ext cx="4801791" cy="2759869"/>
          </a:xfrm>
          <a:prstGeom prst="roundRect">
            <a:avLst>
              <a:gd name="adj" fmla="val 3106"/>
            </a:avLst>
          </a:prstGeom>
          <a:solidFill>
            <a:srgbClr val="F6F3EA"/>
          </a:solidFill>
          <a:ln w="9525">
            <a:solidFill>
              <a:srgbClr val="DDD6C4"/>
            </a:solidFill>
            <a:prstDash val="solid"/>
          </a:ln>
        </p:spPr>
      </p:sp>
      <p:sp>
        <p:nvSpPr>
          <p:cNvPr id="62" name="Shape 50"/>
          <p:cNvSpPr/>
          <p:nvPr/>
        </p:nvSpPr>
        <p:spPr>
          <a:xfrm>
            <a:off x="409575" y="5769397"/>
            <a:ext cx="4477941" cy="9525"/>
          </a:xfrm>
          <a:prstGeom prst="rect">
            <a:avLst/>
          </a:prstGeom>
          <a:solidFill>
            <a:srgbClr val="E3DDCC"/>
          </a:solidFill>
          <a:ln/>
        </p:spPr>
      </p:sp>
      <p:sp>
        <p:nvSpPr>
          <p:cNvPr id="63" name="Text 51"/>
          <p:cNvSpPr/>
          <p:nvPr/>
        </p:nvSpPr>
        <p:spPr>
          <a:xfrm>
            <a:off x="409575" y="5397922"/>
            <a:ext cx="26684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B73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endParaRPr lang="en-US" sz="1800" dirty="0"/>
          </a:p>
        </p:txBody>
      </p:sp>
      <p:sp>
        <p:nvSpPr>
          <p:cNvPr id="64" name="Text 52"/>
          <p:cNvSpPr/>
          <p:nvPr/>
        </p:nvSpPr>
        <p:spPr>
          <a:xfrm>
            <a:off x="685949" y="5364584"/>
            <a:ext cx="176022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生物特性与功能</a:t>
            </a:r>
            <a:endParaRPr lang="en-US" sz="1800" dirty="0"/>
          </a:p>
        </p:txBody>
      </p:sp>
      <p:sp>
        <p:nvSpPr>
          <p:cNvPr id="65" name="Text 53"/>
          <p:cNvSpPr/>
          <p:nvPr/>
        </p:nvSpPr>
        <p:spPr>
          <a:xfrm>
            <a:off x="2371874" y="5502697"/>
            <a:ext cx="85524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9A9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FEATURES</a:t>
            </a:r>
            <a:endParaRPr lang="en-US" sz="900" dirty="0"/>
          </a:p>
        </p:txBody>
      </p:sp>
      <p:sp>
        <p:nvSpPr>
          <p:cNvPr id="66" name="Shape 54"/>
          <p:cNvSpPr/>
          <p:nvPr/>
        </p:nvSpPr>
        <p:spPr>
          <a:xfrm>
            <a:off x="1271885" y="5921797"/>
            <a:ext cx="457200" cy="457200"/>
          </a:xfrm>
          <a:prstGeom prst="ellipse">
            <a:avLst/>
          </a:prstGeom>
          <a:solidFill>
            <a:srgbClr val="4F5733"/>
          </a:solidFill>
          <a:ln/>
        </p:spPr>
      </p:sp>
      <p:pic>
        <p:nvPicPr>
          <p:cNvPr id="67" name="Image 10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357610" y="6007522"/>
            <a:ext cx="285750" cy="285750"/>
          </a:xfrm>
          <a:prstGeom prst="rect">
            <a:avLst/>
          </a:prstGeom>
        </p:spPr>
      </p:pic>
      <p:sp>
        <p:nvSpPr>
          <p:cNvPr id="68" name="Text 55"/>
          <p:cNvSpPr/>
          <p:nvPr/>
        </p:nvSpPr>
        <p:spPr>
          <a:xfrm>
            <a:off x="300484" y="6455197"/>
            <a:ext cx="2400002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63" b="1" dirty="0">
                <a:solidFill>
                  <a:srgbClr val="2C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方向性抓持</a:t>
            </a:r>
            <a:endParaRPr lang="en-US" sz="1163" dirty="0"/>
          </a:p>
        </p:txBody>
      </p:sp>
      <p:sp>
        <p:nvSpPr>
          <p:cNvPr id="69" name="Text 56"/>
          <p:cNvSpPr/>
          <p:nvPr/>
        </p:nvSpPr>
        <p:spPr>
          <a:xfrm>
            <a:off x="300484" y="6693322"/>
            <a:ext cx="2400002" cy="210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938" dirty="0">
                <a:solidFill>
                  <a:srgbClr val="6F6D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易入难出，提供单向锚固</a:t>
            </a:r>
            <a:endParaRPr lang="en-US" sz="938" dirty="0"/>
          </a:p>
        </p:txBody>
      </p:sp>
      <p:sp>
        <p:nvSpPr>
          <p:cNvPr id="70" name="Shape 57"/>
          <p:cNvSpPr/>
          <p:nvPr/>
        </p:nvSpPr>
        <p:spPr>
          <a:xfrm>
            <a:off x="3568005" y="5921797"/>
            <a:ext cx="457200" cy="457200"/>
          </a:xfrm>
          <a:prstGeom prst="ellipse">
            <a:avLst/>
          </a:prstGeom>
          <a:solidFill>
            <a:srgbClr val="4F5733"/>
          </a:solidFill>
          <a:ln/>
        </p:spPr>
      </p:sp>
      <p:pic>
        <p:nvPicPr>
          <p:cNvPr id="71" name="Image 11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653730" y="6007522"/>
            <a:ext cx="285750" cy="285750"/>
          </a:xfrm>
          <a:prstGeom prst="rect">
            <a:avLst/>
          </a:prstGeom>
        </p:spPr>
      </p:pic>
      <p:sp>
        <p:nvSpPr>
          <p:cNvPr id="72" name="Text 58"/>
          <p:cNvSpPr/>
          <p:nvPr/>
        </p:nvSpPr>
        <p:spPr>
          <a:xfrm>
            <a:off x="2596604" y="6455197"/>
            <a:ext cx="2400002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63" b="1" dirty="0">
                <a:solidFill>
                  <a:srgbClr val="2C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牢固固定猎物</a:t>
            </a:r>
            <a:endParaRPr lang="en-US" sz="1163" dirty="0"/>
          </a:p>
        </p:txBody>
      </p:sp>
      <p:sp>
        <p:nvSpPr>
          <p:cNvPr id="73" name="Text 59"/>
          <p:cNvSpPr/>
          <p:nvPr/>
        </p:nvSpPr>
        <p:spPr>
          <a:xfrm>
            <a:off x="2596604" y="6693322"/>
            <a:ext cx="2400002" cy="210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938" dirty="0">
                <a:solidFill>
                  <a:srgbClr val="6F6D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多排密集分布，增强摩擦力</a:t>
            </a:r>
            <a:endParaRPr lang="en-US" sz="938" dirty="0"/>
          </a:p>
        </p:txBody>
      </p:sp>
      <p:sp>
        <p:nvSpPr>
          <p:cNvPr id="74" name="Shape 60"/>
          <p:cNvSpPr/>
          <p:nvPr/>
        </p:nvSpPr>
        <p:spPr>
          <a:xfrm>
            <a:off x="1271885" y="6970737"/>
            <a:ext cx="457200" cy="457200"/>
          </a:xfrm>
          <a:prstGeom prst="ellipse">
            <a:avLst/>
          </a:prstGeom>
          <a:solidFill>
            <a:srgbClr val="4F5733"/>
          </a:solidFill>
          <a:ln/>
        </p:spPr>
      </p:sp>
      <p:pic>
        <p:nvPicPr>
          <p:cNvPr id="75" name="Image 12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357610" y="7056462"/>
            <a:ext cx="285750" cy="285750"/>
          </a:xfrm>
          <a:prstGeom prst="rect">
            <a:avLst/>
          </a:prstGeom>
        </p:spPr>
      </p:pic>
      <p:sp>
        <p:nvSpPr>
          <p:cNvPr id="76" name="Text 61"/>
          <p:cNvSpPr/>
          <p:nvPr/>
        </p:nvSpPr>
        <p:spPr>
          <a:xfrm>
            <a:off x="300484" y="7504137"/>
            <a:ext cx="2400002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63" b="1" dirty="0">
                <a:solidFill>
                  <a:srgbClr val="2C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低能耗被动固持</a:t>
            </a:r>
            <a:endParaRPr lang="en-US" sz="1163" dirty="0"/>
          </a:p>
        </p:txBody>
      </p:sp>
      <p:sp>
        <p:nvSpPr>
          <p:cNvPr id="77" name="Text 62"/>
          <p:cNvSpPr/>
          <p:nvPr/>
        </p:nvSpPr>
        <p:spPr>
          <a:xfrm>
            <a:off x="300484" y="7742262"/>
            <a:ext cx="2400002" cy="210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938" dirty="0">
                <a:solidFill>
                  <a:srgbClr val="6F6D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依赖结构实现固持</a:t>
            </a:r>
            <a:endParaRPr lang="en-US" sz="938" dirty="0"/>
          </a:p>
        </p:txBody>
      </p:sp>
      <p:sp>
        <p:nvSpPr>
          <p:cNvPr id="78" name="Shape 63"/>
          <p:cNvSpPr/>
          <p:nvPr/>
        </p:nvSpPr>
        <p:spPr>
          <a:xfrm>
            <a:off x="3568005" y="6970737"/>
            <a:ext cx="457200" cy="457200"/>
          </a:xfrm>
          <a:prstGeom prst="ellipse">
            <a:avLst/>
          </a:prstGeom>
          <a:solidFill>
            <a:srgbClr val="4F5733"/>
          </a:solidFill>
          <a:ln/>
        </p:spPr>
      </p:sp>
      <p:pic>
        <p:nvPicPr>
          <p:cNvPr id="79" name="Image 13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3653730" y="7056462"/>
            <a:ext cx="285750" cy="285750"/>
          </a:xfrm>
          <a:prstGeom prst="rect">
            <a:avLst/>
          </a:prstGeom>
        </p:spPr>
      </p:pic>
      <p:sp>
        <p:nvSpPr>
          <p:cNvPr id="80" name="Text 64"/>
          <p:cNvSpPr/>
          <p:nvPr/>
        </p:nvSpPr>
        <p:spPr>
          <a:xfrm>
            <a:off x="2596604" y="7504137"/>
            <a:ext cx="2400002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63" b="1" dirty="0">
                <a:solidFill>
                  <a:srgbClr val="2C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配合缠绕致死</a:t>
            </a:r>
            <a:endParaRPr lang="en-US" sz="1163" dirty="0"/>
          </a:p>
        </p:txBody>
      </p:sp>
      <p:sp>
        <p:nvSpPr>
          <p:cNvPr id="81" name="Text 65"/>
          <p:cNvSpPr/>
          <p:nvPr/>
        </p:nvSpPr>
        <p:spPr>
          <a:xfrm>
            <a:off x="2596604" y="7742262"/>
            <a:ext cx="2400002" cy="210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938" dirty="0">
                <a:solidFill>
                  <a:srgbClr val="6F6D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限制呼吸与血流</a:t>
            </a:r>
            <a:endParaRPr lang="en-US" sz="938" dirty="0"/>
          </a:p>
        </p:txBody>
      </p:sp>
      <p:sp>
        <p:nvSpPr>
          <p:cNvPr id="82" name="Shape 66"/>
          <p:cNvSpPr/>
          <p:nvPr/>
        </p:nvSpPr>
        <p:spPr>
          <a:xfrm>
            <a:off x="5239941" y="5259809"/>
            <a:ext cx="5522044" cy="2759869"/>
          </a:xfrm>
          <a:prstGeom prst="roundRect">
            <a:avLst>
              <a:gd name="adj" fmla="val 3106"/>
            </a:avLst>
          </a:prstGeom>
          <a:solidFill>
            <a:srgbClr val="F6F3EA"/>
          </a:solidFill>
          <a:ln w="9525">
            <a:solidFill>
              <a:srgbClr val="DDD6C4"/>
            </a:solidFill>
            <a:prstDash val="solid"/>
          </a:ln>
        </p:spPr>
      </p:sp>
      <p:sp>
        <p:nvSpPr>
          <p:cNvPr id="83" name="Shape 67"/>
          <p:cNvSpPr/>
          <p:nvPr/>
        </p:nvSpPr>
        <p:spPr>
          <a:xfrm>
            <a:off x="5401866" y="5769397"/>
            <a:ext cx="5198194" cy="9525"/>
          </a:xfrm>
          <a:prstGeom prst="rect">
            <a:avLst/>
          </a:prstGeom>
          <a:solidFill>
            <a:srgbClr val="E3DDCC"/>
          </a:solidFill>
          <a:ln/>
        </p:spPr>
      </p:sp>
      <p:sp>
        <p:nvSpPr>
          <p:cNvPr id="84" name="Text 68"/>
          <p:cNvSpPr/>
          <p:nvPr/>
        </p:nvSpPr>
        <p:spPr>
          <a:xfrm>
            <a:off x="5401866" y="5397922"/>
            <a:ext cx="26684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B73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endParaRPr lang="en-US" sz="1800" dirty="0"/>
          </a:p>
        </p:txBody>
      </p:sp>
      <p:sp>
        <p:nvSpPr>
          <p:cNvPr id="85" name="Text 69"/>
          <p:cNvSpPr/>
          <p:nvPr/>
        </p:nvSpPr>
        <p:spPr>
          <a:xfrm>
            <a:off x="5678239" y="5364584"/>
            <a:ext cx="226314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结构与功能对应关系</a:t>
            </a:r>
            <a:endParaRPr lang="en-US" sz="1800" dirty="0"/>
          </a:p>
        </p:txBody>
      </p:sp>
      <p:sp>
        <p:nvSpPr>
          <p:cNvPr id="86" name="Text 70"/>
          <p:cNvSpPr/>
          <p:nvPr/>
        </p:nvSpPr>
        <p:spPr>
          <a:xfrm>
            <a:off x="7821364" y="5512222"/>
            <a:ext cx="1618692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66" kern="0" dirty="0">
                <a:solidFill>
                  <a:srgbClr val="9A9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STRUCTURE–FUNCTION</a:t>
            </a:r>
            <a:endParaRPr lang="en-US" sz="825" dirty="0"/>
          </a:p>
        </p:txBody>
      </p:sp>
      <p:sp>
        <p:nvSpPr>
          <p:cNvPr id="87" name="Shape 71"/>
          <p:cNvSpPr/>
          <p:nvPr/>
        </p:nvSpPr>
        <p:spPr>
          <a:xfrm>
            <a:off x="5401866" y="6217072"/>
            <a:ext cx="1588294" cy="19050"/>
          </a:xfrm>
          <a:prstGeom prst="rect">
            <a:avLst/>
          </a:prstGeom>
          <a:solidFill>
            <a:srgbClr val="CFC8B3"/>
          </a:solidFill>
          <a:ln/>
        </p:spPr>
      </p:sp>
      <p:sp>
        <p:nvSpPr>
          <p:cNvPr id="88" name="Text 72"/>
          <p:cNvSpPr/>
          <p:nvPr/>
        </p:nvSpPr>
        <p:spPr>
          <a:xfrm>
            <a:off x="5459016" y="5969422"/>
            <a:ext cx="1550194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4F5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结构特征</a:t>
            </a:r>
            <a:endParaRPr lang="en-US" sz="1013" dirty="0"/>
          </a:p>
        </p:txBody>
      </p:sp>
      <p:sp>
        <p:nvSpPr>
          <p:cNvPr id="89" name="Shape 73"/>
          <p:cNvSpPr/>
          <p:nvPr/>
        </p:nvSpPr>
        <p:spPr>
          <a:xfrm>
            <a:off x="6990159" y="6217072"/>
            <a:ext cx="1299567" cy="19050"/>
          </a:xfrm>
          <a:prstGeom prst="rect">
            <a:avLst/>
          </a:prstGeom>
          <a:solidFill>
            <a:srgbClr val="CFC8B3"/>
          </a:solidFill>
          <a:ln/>
        </p:spPr>
      </p:sp>
      <p:sp>
        <p:nvSpPr>
          <p:cNvPr id="90" name="Text 74"/>
          <p:cNvSpPr/>
          <p:nvPr/>
        </p:nvSpPr>
        <p:spPr>
          <a:xfrm>
            <a:off x="7047309" y="5969422"/>
            <a:ext cx="1261467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4F5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对应功能</a:t>
            </a:r>
            <a:endParaRPr lang="en-US" sz="1013" dirty="0"/>
          </a:p>
        </p:txBody>
      </p:sp>
      <p:sp>
        <p:nvSpPr>
          <p:cNvPr id="91" name="Shape 75"/>
          <p:cNvSpPr/>
          <p:nvPr/>
        </p:nvSpPr>
        <p:spPr>
          <a:xfrm>
            <a:off x="8289727" y="6217072"/>
            <a:ext cx="2310333" cy="19050"/>
          </a:xfrm>
          <a:prstGeom prst="rect">
            <a:avLst/>
          </a:prstGeom>
          <a:solidFill>
            <a:srgbClr val="CFC8B3"/>
          </a:solidFill>
          <a:ln/>
        </p:spPr>
      </p:sp>
      <p:sp>
        <p:nvSpPr>
          <p:cNvPr id="92" name="Text 76"/>
          <p:cNvSpPr/>
          <p:nvPr/>
        </p:nvSpPr>
        <p:spPr>
          <a:xfrm>
            <a:off x="8346877" y="5969422"/>
            <a:ext cx="2272233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4F5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作用机制说明</a:t>
            </a:r>
            <a:endParaRPr lang="en-US" sz="1013" dirty="0"/>
          </a:p>
        </p:txBody>
      </p:sp>
      <p:sp>
        <p:nvSpPr>
          <p:cNvPr id="93" name="Shape 77"/>
          <p:cNvSpPr/>
          <p:nvPr/>
        </p:nvSpPr>
        <p:spPr>
          <a:xfrm>
            <a:off x="5401866" y="6536159"/>
            <a:ext cx="1588294" cy="9525"/>
          </a:xfrm>
          <a:prstGeom prst="rect">
            <a:avLst/>
          </a:prstGeom>
          <a:solidFill>
            <a:srgbClr val="E6E0CF"/>
          </a:solidFill>
          <a:ln/>
        </p:spPr>
      </p:sp>
      <p:sp>
        <p:nvSpPr>
          <p:cNvPr id="94" name="Text 78"/>
          <p:cNvSpPr/>
          <p:nvPr/>
        </p:nvSpPr>
        <p:spPr>
          <a:xfrm>
            <a:off x="5459016" y="6293272"/>
            <a:ext cx="1550194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C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内弯（后倾）牙齿</a:t>
            </a:r>
            <a:endParaRPr lang="en-US" sz="975" dirty="0"/>
          </a:p>
        </p:txBody>
      </p:sp>
      <p:sp>
        <p:nvSpPr>
          <p:cNvPr id="95" name="Shape 79"/>
          <p:cNvSpPr/>
          <p:nvPr/>
        </p:nvSpPr>
        <p:spPr>
          <a:xfrm>
            <a:off x="6990159" y="6536159"/>
            <a:ext cx="1299567" cy="9525"/>
          </a:xfrm>
          <a:prstGeom prst="rect">
            <a:avLst/>
          </a:prstGeom>
          <a:solidFill>
            <a:srgbClr val="E6E0CF"/>
          </a:solidFill>
          <a:ln/>
        </p:spPr>
      </p:sp>
      <p:sp>
        <p:nvSpPr>
          <p:cNvPr id="96" name="Text 80"/>
          <p:cNvSpPr/>
          <p:nvPr/>
        </p:nvSpPr>
        <p:spPr>
          <a:xfrm>
            <a:off x="7047309" y="6293272"/>
            <a:ext cx="1261467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dirty="0">
                <a:solidFill>
                  <a:srgbClr val="4F5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单向锚固</a:t>
            </a:r>
            <a:endParaRPr lang="en-US" sz="1013" dirty="0"/>
          </a:p>
        </p:txBody>
      </p:sp>
      <p:sp>
        <p:nvSpPr>
          <p:cNvPr id="97" name="Shape 81"/>
          <p:cNvSpPr/>
          <p:nvPr/>
        </p:nvSpPr>
        <p:spPr>
          <a:xfrm>
            <a:off x="8289727" y="6536159"/>
            <a:ext cx="2310333" cy="9525"/>
          </a:xfrm>
          <a:prstGeom prst="rect">
            <a:avLst/>
          </a:prstGeom>
          <a:solidFill>
            <a:srgbClr val="E6E0CF"/>
          </a:solidFill>
          <a:ln/>
        </p:spPr>
      </p:sp>
      <p:sp>
        <p:nvSpPr>
          <p:cNvPr id="98" name="Text 82"/>
          <p:cNvSpPr/>
          <p:nvPr/>
        </p:nvSpPr>
        <p:spPr>
          <a:xfrm>
            <a:off x="8346877" y="6293272"/>
            <a:ext cx="2272233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13" dirty="0">
                <a:solidFill>
                  <a:srgbClr val="5A5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内弯形态制造反向阻力，防止被动逃脱</a:t>
            </a:r>
            <a:endParaRPr lang="en-US" sz="1013" dirty="0"/>
          </a:p>
        </p:txBody>
      </p:sp>
      <p:sp>
        <p:nvSpPr>
          <p:cNvPr id="99" name="Shape 83"/>
          <p:cNvSpPr/>
          <p:nvPr/>
        </p:nvSpPr>
        <p:spPr>
          <a:xfrm>
            <a:off x="5401866" y="7019999"/>
            <a:ext cx="1588294" cy="9525"/>
          </a:xfrm>
          <a:prstGeom prst="rect">
            <a:avLst/>
          </a:prstGeom>
          <a:solidFill>
            <a:srgbClr val="E6E0CF"/>
          </a:solidFill>
          <a:ln/>
        </p:spPr>
      </p:sp>
      <p:sp>
        <p:nvSpPr>
          <p:cNvPr id="100" name="Text 84"/>
          <p:cNvSpPr/>
          <p:nvPr/>
        </p:nvSpPr>
        <p:spPr>
          <a:xfrm>
            <a:off x="5459016" y="6602834"/>
            <a:ext cx="1550194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C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多排密集排列</a:t>
            </a:r>
            <a:endParaRPr lang="en-US" sz="975" dirty="0"/>
          </a:p>
        </p:txBody>
      </p:sp>
      <p:sp>
        <p:nvSpPr>
          <p:cNvPr id="101" name="Shape 85"/>
          <p:cNvSpPr/>
          <p:nvPr/>
        </p:nvSpPr>
        <p:spPr>
          <a:xfrm>
            <a:off x="6990159" y="7019999"/>
            <a:ext cx="1299567" cy="9525"/>
          </a:xfrm>
          <a:prstGeom prst="rect">
            <a:avLst/>
          </a:prstGeom>
          <a:solidFill>
            <a:srgbClr val="E6E0CF"/>
          </a:solidFill>
          <a:ln/>
        </p:spPr>
      </p:sp>
      <p:sp>
        <p:nvSpPr>
          <p:cNvPr id="102" name="Text 86"/>
          <p:cNvSpPr/>
          <p:nvPr/>
        </p:nvSpPr>
        <p:spPr>
          <a:xfrm>
            <a:off x="7047309" y="6602834"/>
            <a:ext cx="1261467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dirty="0">
                <a:solidFill>
                  <a:srgbClr val="4F5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分散受力</a:t>
            </a:r>
            <a:endParaRPr lang="en-US" sz="1013" dirty="0"/>
          </a:p>
        </p:txBody>
      </p:sp>
      <p:sp>
        <p:nvSpPr>
          <p:cNvPr id="103" name="Shape 87"/>
          <p:cNvSpPr/>
          <p:nvPr/>
        </p:nvSpPr>
        <p:spPr>
          <a:xfrm>
            <a:off x="8289727" y="7019999"/>
            <a:ext cx="2310333" cy="9525"/>
          </a:xfrm>
          <a:prstGeom prst="rect">
            <a:avLst/>
          </a:prstGeom>
          <a:solidFill>
            <a:srgbClr val="E6E0CF"/>
          </a:solidFill>
          <a:ln/>
        </p:spPr>
      </p:sp>
      <p:sp>
        <p:nvSpPr>
          <p:cNvPr id="104" name="Text 88"/>
          <p:cNvSpPr/>
          <p:nvPr/>
        </p:nvSpPr>
        <p:spPr>
          <a:xfrm>
            <a:off x="8346877" y="6602834"/>
            <a:ext cx="2272233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13" dirty="0">
                <a:solidFill>
                  <a:srgbClr val="5A5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密集锚点分布，降低单点载荷，提高稳定性</a:t>
            </a:r>
            <a:endParaRPr lang="en-US" sz="1013" dirty="0"/>
          </a:p>
        </p:txBody>
      </p:sp>
      <p:sp>
        <p:nvSpPr>
          <p:cNvPr id="105" name="Shape 89"/>
          <p:cNvSpPr/>
          <p:nvPr/>
        </p:nvSpPr>
        <p:spPr>
          <a:xfrm>
            <a:off x="5401866" y="7503840"/>
            <a:ext cx="1588294" cy="9525"/>
          </a:xfrm>
          <a:prstGeom prst="rect">
            <a:avLst/>
          </a:prstGeom>
          <a:solidFill>
            <a:srgbClr val="E6E0CF"/>
          </a:solidFill>
          <a:ln/>
        </p:spPr>
      </p:sp>
      <p:sp>
        <p:nvSpPr>
          <p:cNvPr id="106" name="Text 90"/>
          <p:cNvSpPr/>
          <p:nvPr/>
        </p:nvSpPr>
        <p:spPr>
          <a:xfrm>
            <a:off x="5459016" y="7086674"/>
            <a:ext cx="1550194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C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细长锐利几何</a:t>
            </a:r>
            <a:endParaRPr lang="en-US" sz="975" dirty="0"/>
          </a:p>
        </p:txBody>
      </p:sp>
      <p:sp>
        <p:nvSpPr>
          <p:cNvPr id="107" name="Shape 91"/>
          <p:cNvSpPr/>
          <p:nvPr/>
        </p:nvSpPr>
        <p:spPr>
          <a:xfrm>
            <a:off x="6990159" y="7503840"/>
            <a:ext cx="1299567" cy="9525"/>
          </a:xfrm>
          <a:prstGeom prst="rect">
            <a:avLst/>
          </a:prstGeom>
          <a:solidFill>
            <a:srgbClr val="E6E0CF"/>
          </a:solidFill>
          <a:ln/>
        </p:spPr>
      </p:sp>
      <p:sp>
        <p:nvSpPr>
          <p:cNvPr id="108" name="Text 92"/>
          <p:cNvSpPr/>
          <p:nvPr/>
        </p:nvSpPr>
        <p:spPr>
          <a:xfrm>
            <a:off x="7047309" y="7086674"/>
            <a:ext cx="1261467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dirty="0">
                <a:solidFill>
                  <a:srgbClr val="4F5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易穿透</a:t>
            </a:r>
            <a:endParaRPr lang="en-US" sz="1013" dirty="0"/>
          </a:p>
        </p:txBody>
      </p:sp>
      <p:sp>
        <p:nvSpPr>
          <p:cNvPr id="109" name="Shape 93"/>
          <p:cNvSpPr/>
          <p:nvPr/>
        </p:nvSpPr>
        <p:spPr>
          <a:xfrm>
            <a:off x="8289727" y="7503840"/>
            <a:ext cx="2310333" cy="9525"/>
          </a:xfrm>
          <a:prstGeom prst="rect">
            <a:avLst/>
          </a:prstGeom>
          <a:solidFill>
            <a:srgbClr val="E6E0CF"/>
          </a:solidFill>
          <a:ln/>
        </p:spPr>
      </p:sp>
      <p:sp>
        <p:nvSpPr>
          <p:cNvPr id="110" name="Text 94"/>
          <p:cNvSpPr/>
          <p:nvPr/>
        </p:nvSpPr>
        <p:spPr>
          <a:xfrm>
            <a:off x="8346877" y="7086674"/>
            <a:ext cx="2272233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13" dirty="0">
                <a:solidFill>
                  <a:srgbClr val="5A5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锐利尖端，减少入侵阻力，提升锚固深度</a:t>
            </a:r>
            <a:endParaRPr lang="en-US" sz="1013" dirty="0"/>
          </a:p>
        </p:txBody>
      </p:sp>
      <p:sp>
        <p:nvSpPr>
          <p:cNvPr id="111" name="Text 95"/>
          <p:cNvSpPr/>
          <p:nvPr/>
        </p:nvSpPr>
        <p:spPr>
          <a:xfrm>
            <a:off x="5459016" y="7570515"/>
            <a:ext cx="1550194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2C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单向性定向排列</a:t>
            </a:r>
            <a:endParaRPr lang="en-US" sz="1013" dirty="0"/>
          </a:p>
        </p:txBody>
      </p:sp>
      <p:sp>
        <p:nvSpPr>
          <p:cNvPr id="112" name="Text 96"/>
          <p:cNvSpPr/>
          <p:nvPr/>
        </p:nvSpPr>
        <p:spPr>
          <a:xfrm>
            <a:off x="7047309" y="7570515"/>
            <a:ext cx="1261467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dirty="0">
                <a:solidFill>
                  <a:srgbClr val="4F5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被动固持</a:t>
            </a:r>
            <a:endParaRPr lang="en-US" sz="1013" dirty="0"/>
          </a:p>
        </p:txBody>
      </p:sp>
      <p:sp>
        <p:nvSpPr>
          <p:cNvPr id="113" name="Text 97"/>
          <p:cNvSpPr/>
          <p:nvPr/>
        </p:nvSpPr>
        <p:spPr>
          <a:xfrm>
            <a:off x="8346877" y="7570515"/>
            <a:ext cx="2272233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13" dirty="0">
                <a:solidFill>
                  <a:srgbClr val="5A5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统一后倾方向，形成宏观单向防逃结构</a:t>
            </a:r>
            <a:endParaRPr lang="en-US" sz="1013" dirty="0"/>
          </a:p>
        </p:txBody>
      </p:sp>
      <p:sp>
        <p:nvSpPr>
          <p:cNvPr id="114" name="Shape 98"/>
          <p:cNvSpPr/>
          <p:nvPr/>
        </p:nvSpPr>
        <p:spPr>
          <a:xfrm>
            <a:off x="10952485" y="5259809"/>
            <a:ext cx="4801865" cy="2759869"/>
          </a:xfrm>
          <a:prstGeom prst="roundRect">
            <a:avLst>
              <a:gd name="adj" fmla="val 3106"/>
            </a:avLst>
          </a:prstGeom>
          <a:solidFill>
            <a:srgbClr val="ECEADB"/>
          </a:solidFill>
          <a:ln w="9525">
            <a:solidFill>
              <a:srgbClr val="D6D0BB"/>
            </a:solidFill>
            <a:prstDash val="solid"/>
          </a:ln>
        </p:spPr>
      </p:sp>
      <p:sp>
        <p:nvSpPr>
          <p:cNvPr id="115" name="Shape 99"/>
          <p:cNvSpPr/>
          <p:nvPr/>
        </p:nvSpPr>
        <p:spPr>
          <a:xfrm>
            <a:off x="11114410" y="5769397"/>
            <a:ext cx="4478015" cy="9525"/>
          </a:xfrm>
          <a:prstGeom prst="rect">
            <a:avLst/>
          </a:prstGeom>
          <a:solidFill>
            <a:srgbClr val="DDD7C4"/>
          </a:solidFill>
          <a:ln/>
        </p:spPr>
      </p:sp>
      <p:sp>
        <p:nvSpPr>
          <p:cNvPr id="116" name="Text 100"/>
          <p:cNvSpPr/>
          <p:nvPr/>
        </p:nvSpPr>
        <p:spPr>
          <a:xfrm>
            <a:off x="11114410" y="5397922"/>
            <a:ext cx="26684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B73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</a:t>
            </a:r>
            <a:endParaRPr lang="en-US" sz="1800" dirty="0"/>
          </a:p>
        </p:txBody>
      </p:sp>
      <p:sp>
        <p:nvSpPr>
          <p:cNvPr id="117" name="Text 101"/>
          <p:cNvSpPr/>
          <p:nvPr/>
        </p:nvSpPr>
        <p:spPr>
          <a:xfrm>
            <a:off x="11390784" y="5364584"/>
            <a:ext cx="150876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核心自然原理</a:t>
            </a:r>
            <a:endParaRPr lang="en-US" sz="1800" dirty="0"/>
          </a:p>
        </p:txBody>
      </p:sp>
      <p:sp>
        <p:nvSpPr>
          <p:cNvPr id="118" name="Text 102"/>
          <p:cNvSpPr/>
          <p:nvPr/>
        </p:nvSpPr>
        <p:spPr>
          <a:xfrm>
            <a:off x="12848109" y="5512222"/>
            <a:ext cx="1153492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66" kern="0" dirty="0">
                <a:solidFill>
                  <a:srgbClr val="9A9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CORE PRINCIPLE</a:t>
            </a:r>
            <a:endParaRPr lang="en-US" sz="825" dirty="0"/>
          </a:p>
        </p:txBody>
      </p:sp>
      <p:sp>
        <p:nvSpPr>
          <p:cNvPr id="119" name="Shape 103"/>
          <p:cNvSpPr/>
          <p:nvPr/>
        </p:nvSpPr>
        <p:spPr>
          <a:xfrm>
            <a:off x="11114410" y="5902747"/>
            <a:ext cx="4478015" cy="790575"/>
          </a:xfrm>
          <a:prstGeom prst="roundRect">
            <a:avLst>
              <a:gd name="adj" fmla="val 9639"/>
            </a:avLst>
          </a:prstGeom>
          <a:solidFill>
            <a:srgbClr val="F6F3EA"/>
          </a:solidFill>
          <a:ln/>
        </p:spPr>
      </p:sp>
      <p:sp>
        <p:nvSpPr>
          <p:cNvPr id="120" name="Text 104"/>
          <p:cNvSpPr/>
          <p:nvPr/>
        </p:nvSpPr>
        <p:spPr>
          <a:xfrm>
            <a:off x="11037194" y="5997997"/>
            <a:ext cx="46324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75" b="1" spc="75" kern="0" dirty="0">
                <a:solidFill>
                  <a:srgbClr val="4F5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方向性几何 + 被动单向固持</a:t>
            </a:r>
            <a:endParaRPr lang="en-US" sz="1875" dirty="0"/>
          </a:p>
        </p:txBody>
      </p:sp>
      <p:sp>
        <p:nvSpPr>
          <p:cNvPr id="121" name="Text 105"/>
          <p:cNvSpPr/>
          <p:nvPr/>
        </p:nvSpPr>
        <p:spPr>
          <a:xfrm>
            <a:off x="11037194" y="6378997"/>
            <a:ext cx="4632447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C3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最少主动施力 → 最大稳定抓持</a:t>
            </a:r>
            <a:endParaRPr lang="en-US" sz="1200" dirty="0"/>
          </a:p>
        </p:txBody>
      </p:sp>
      <p:sp>
        <p:nvSpPr>
          <p:cNvPr id="122" name="Shape 106"/>
          <p:cNvSpPr/>
          <p:nvPr/>
        </p:nvSpPr>
        <p:spPr>
          <a:xfrm>
            <a:off x="11397928" y="6845722"/>
            <a:ext cx="495300" cy="495300"/>
          </a:xfrm>
          <a:prstGeom prst="ellipse">
            <a:avLst/>
          </a:prstGeom>
          <a:solidFill>
            <a:srgbClr val="4F5733"/>
          </a:solidFill>
          <a:ln/>
        </p:spPr>
      </p:sp>
      <p:pic>
        <p:nvPicPr>
          <p:cNvPr id="123" name="Image 14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1521753" y="6969547"/>
            <a:ext cx="247650" cy="247650"/>
          </a:xfrm>
          <a:prstGeom prst="rect">
            <a:avLst/>
          </a:prstGeom>
        </p:spPr>
      </p:pic>
      <p:sp>
        <p:nvSpPr>
          <p:cNvPr id="124" name="Text 107"/>
          <p:cNvSpPr/>
          <p:nvPr/>
        </p:nvSpPr>
        <p:spPr>
          <a:xfrm>
            <a:off x="11076310" y="7398172"/>
            <a:ext cx="1138535" cy="192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13" b="1" dirty="0">
                <a:solidFill>
                  <a:srgbClr val="2C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方向性锚固</a:t>
            </a:r>
            <a:endParaRPr lang="en-US" sz="1013" dirty="0"/>
          </a:p>
        </p:txBody>
      </p:sp>
      <p:sp>
        <p:nvSpPr>
          <p:cNvPr id="125" name="Text 108"/>
          <p:cNvSpPr/>
          <p:nvPr/>
        </p:nvSpPr>
        <p:spPr>
          <a:xfrm>
            <a:off x="11076310" y="7552432"/>
            <a:ext cx="1138535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75" spc="34" kern="0" dirty="0">
                <a:solidFill>
                  <a:srgbClr val="8A8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DIRECTIONAL</a:t>
            </a:r>
            <a:endParaRPr lang="en-US" sz="675" dirty="0"/>
          </a:p>
        </p:txBody>
      </p:sp>
      <p:sp>
        <p:nvSpPr>
          <p:cNvPr id="126" name="Shape 109"/>
          <p:cNvSpPr/>
          <p:nvPr/>
        </p:nvSpPr>
        <p:spPr>
          <a:xfrm>
            <a:off x="12536463" y="6845722"/>
            <a:ext cx="495300" cy="495300"/>
          </a:xfrm>
          <a:prstGeom prst="ellipse">
            <a:avLst/>
          </a:prstGeom>
          <a:solidFill>
            <a:srgbClr val="4F5733"/>
          </a:solidFill>
          <a:ln/>
        </p:spPr>
      </p:sp>
      <p:pic>
        <p:nvPicPr>
          <p:cNvPr id="127" name="Image 15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2660288" y="6969547"/>
            <a:ext cx="247650" cy="247650"/>
          </a:xfrm>
          <a:prstGeom prst="rect">
            <a:avLst/>
          </a:prstGeom>
        </p:spPr>
      </p:pic>
      <p:sp>
        <p:nvSpPr>
          <p:cNvPr id="128" name="Text 110"/>
          <p:cNvSpPr/>
          <p:nvPr/>
        </p:nvSpPr>
        <p:spPr>
          <a:xfrm>
            <a:off x="12214845" y="7398172"/>
            <a:ext cx="1138535" cy="192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13" b="1" dirty="0">
                <a:solidFill>
                  <a:srgbClr val="2C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受力放大</a:t>
            </a:r>
            <a:endParaRPr lang="en-US" sz="1013" dirty="0"/>
          </a:p>
        </p:txBody>
      </p:sp>
      <p:sp>
        <p:nvSpPr>
          <p:cNvPr id="129" name="Text 111"/>
          <p:cNvSpPr/>
          <p:nvPr/>
        </p:nvSpPr>
        <p:spPr>
          <a:xfrm>
            <a:off x="12214845" y="7552432"/>
            <a:ext cx="1138535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75" spc="34" kern="0" dirty="0">
                <a:solidFill>
                  <a:srgbClr val="8A8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AMPLIFICATION</a:t>
            </a:r>
            <a:endParaRPr lang="en-US" sz="675" dirty="0"/>
          </a:p>
        </p:txBody>
      </p:sp>
      <p:sp>
        <p:nvSpPr>
          <p:cNvPr id="130" name="Shape 112"/>
          <p:cNvSpPr/>
          <p:nvPr/>
        </p:nvSpPr>
        <p:spPr>
          <a:xfrm>
            <a:off x="13674998" y="6845722"/>
            <a:ext cx="495300" cy="495300"/>
          </a:xfrm>
          <a:prstGeom prst="ellipse">
            <a:avLst/>
          </a:prstGeom>
          <a:solidFill>
            <a:srgbClr val="4F5733"/>
          </a:solidFill>
          <a:ln/>
        </p:spPr>
      </p:sp>
      <p:pic>
        <p:nvPicPr>
          <p:cNvPr id="131" name="Image 16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3798823" y="6969547"/>
            <a:ext cx="247650" cy="247650"/>
          </a:xfrm>
          <a:prstGeom prst="rect">
            <a:avLst/>
          </a:prstGeom>
        </p:spPr>
      </p:pic>
      <p:sp>
        <p:nvSpPr>
          <p:cNvPr id="132" name="Text 113"/>
          <p:cNvSpPr/>
          <p:nvPr/>
        </p:nvSpPr>
        <p:spPr>
          <a:xfrm>
            <a:off x="13353380" y="7398172"/>
            <a:ext cx="1138535" cy="192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13" b="1" dirty="0">
                <a:solidFill>
                  <a:srgbClr val="2C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防滑牢靠</a:t>
            </a:r>
            <a:endParaRPr lang="en-US" sz="1013" dirty="0"/>
          </a:p>
        </p:txBody>
      </p:sp>
      <p:sp>
        <p:nvSpPr>
          <p:cNvPr id="133" name="Text 114"/>
          <p:cNvSpPr/>
          <p:nvPr/>
        </p:nvSpPr>
        <p:spPr>
          <a:xfrm>
            <a:off x="13353380" y="7552432"/>
            <a:ext cx="1138535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75" spc="34" kern="0" dirty="0">
                <a:solidFill>
                  <a:srgbClr val="8A8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ANTI-SLIP</a:t>
            </a:r>
            <a:endParaRPr lang="en-US" sz="675" dirty="0"/>
          </a:p>
        </p:txBody>
      </p:sp>
      <p:sp>
        <p:nvSpPr>
          <p:cNvPr id="134" name="Shape 115"/>
          <p:cNvSpPr/>
          <p:nvPr/>
        </p:nvSpPr>
        <p:spPr>
          <a:xfrm>
            <a:off x="14813533" y="6845722"/>
            <a:ext cx="495300" cy="495300"/>
          </a:xfrm>
          <a:prstGeom prst="ellipse">
            <a:avLst/>
          </a:prstGeom>
          <a:solidFill>
            <a:srgbClr val="4F5733"/>
          </a:solidFill>
          <a:ln/>
        </p:spPr>
      </p:sp>
      <p:pic>
        <p:nvPicPr>
          <p:cNvPr id="135" name="Image 17" descr="preencoded.png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14937358" y="6969547"/>
            <a:ext cx="247650" cy="247650"/>
          </a:xfrm>
          <a:prstGeom prst="rect">
            <a:avLst/>
          </a:prstGeom>
        </p:spPr>
      </p:pic>
      <p:sp>
        <p:nvSpPr>
          <p:cNvPr id="136" name="Text 116"/>
          <p:cNvSpPr/>
          <p:nvPr/>
        </p:nvSpPr>
        <p:spPr>
          <a:xfrm>
            <a:off x="14491915" y="7398172"/>
            <a:ext cx="1138610" cy="192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13" b="1" dirty="0">
                <a:solidFill>
                  <a:srgbClr val="2C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低能高效</a:t>
            </a:r>
            <a:endParaRPr lang="en-US" sz="1013" dirty="0"/>
          </a:p>
        </p:txBody>
      </p:sp>
      <p:sp>
        <p:nvSpPr>
          <p:cNvPr id="137" name="Text 117"/>
          <p:cNvSpPr/>
          <p:nvPr/>
        </p:nvSpPr>
        <p:spPr>
          <a:xfrm>
            <a:off x="14491915" y="7552432"/>
            <a:ext cx="1138610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75" spc="34" kern="0" dirty="0">
                <a:solidFill>
                  <a:srgbClr val="8A8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EFFICIENCY</a:t>
            </a:r>
            <a:endParaRPr lang="en-US" sz="675" dirty="0"/>
          </a:p>
        </p:txBody>
      </p:sp>
      <p:sp>
        <p:nvSpPr>
          <p:cNvPr id="138" name="Shape 118"/>
          <p:cNvSpPr/>
          <p:nvPr/>
        </p:nvSpPr>
        <p:spPr>
          <a:xfrm>
            <a:off x="247650" y="8114928"/>
            <a:ext cx="15506700" cy="3405188"/>
          </a:xfrm>
          <a:prstGeom prst="roundRect">
            <a:avLst>
              <a:gd name="adj" fmla="val 2517"/>
            </a:avLst>
          </a:prstGeom>
          <a:solidFill>
            <a:srgbClr val="F6F3EA"/>
          </a:solidFill>
          <a:ln w="9525">
            <a:solidFill>
              <a:srgbClr val="DDD6C4"/>
            </a:solidFill>
            <a:prstDash val="solid"/>
          </a:ln>
        </p:spPr>
      </p:sp>
      <p:sp>
        <p:nvSpPr>
          <p:cNvPr id="139" name="Shape 119"/>
          <p:cNvSpPr/>
          <p:nvPr/>
        </p:nvSpPr>
        <p:spPr>
          <a:xfrm>
            <a:off x="409575" y="8624515"/>
            <a:ext cx="15182850" cy="9525"/>
          </a:xfrm>
          <a:prstGeom prst="rect">
            <a:avLst/>
          </a:prstGeom>
          <a:solidFill>
            <a:srgbClr val="E3DDCC"/>
          </a:solidFill>
          <a:ln/>
        </p:spPr>
      </p:sp>
      <p:sp>
        <p:nvSpPr>
          <p:cNvPr id="140" name="Text 120"/>
          <p:cNvSpPr/>
          <p:nvPr/>
        </p:nvSpPr>
        <p:spPr>
          <a:xfrm>
            <a:off x="409575" y="8253040"/>
            <a:ext cx="26684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B73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</a:t>
            </a:r>
            <a:endParaRPr lang="en-US" sz="1800" dirty="0"/>
          </a:p>
        </p:txBody>
      </p:sp>
      <p:sp>
        <p:nvSpPr>
          <p:cNvPr id="141" name="Text 121"/>
          <p:cNvSpPr/>
          <p:nvPr/>
        </p:nvSpPr>
        <p:spPr>
          <a:xfrm>
            <a:off x="685949" y="8219703"/>
            <a:ext cx="3799895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设计推演：从自然 → 草图 → 方案</a:t>
            </a:r>
            <a:endParaRPr lang="en-US" sz="1800" dirty="0"/>
          </a:p>
        </p:txBody>
      </p:sp>
      <p:sp>
        <p:nvSpPr>
          <p:cNvPr id="142" name="Text 122"/>
          <p:cNvSpPr/>
          <p:nvPr/>
        </p:nvSpPr>
        <p:spPr>
          <a:xfrm>
            <a:off x="4226123" y="8348290"/>
            <a:ext cx="1668051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98" kern="0" dirty="0">
                <a:solidFill>
                  <a:srgbClr val="9A9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DESIGN EVOLUTION</a:t>
            </a:r>
            <a:endParaRPr lang="en-US" sz="975" dirty="0"/>
          </a:p>
        </p:txBody>
      </p:sp>
      <p:sp>
        <p:nvSpPr>
          <p:cNvPr id="143" name="Text 123"/>
          <p:cNvSpPr/>
          <p:nvPr/>
        </p:nvSpPr>
        <p:spPr>
          <a:xfrm>
            <a:off x="409575" y="8767390"/>
            <a:ext cx="238887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3F45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自然启示 </a:t>
            </a:r>
            <a:pPr algn="l" indent="0" marL="0">
              <a:buNone/>
            </a:pPr>
            <a:r>
              <a:rPr lang="en-US" sz="750" b="1" dirty="0">
                <a:solidFill>
                  <a:srgbClr val="9A9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NATURE</a:t>
            </a:r>
            <a:endParaRPr lang="en-US" sz="1125" dirty="0"/>
          </a:p>
        </p:txBody>
      </p:sp>
      <p:sp>
        <p:nvSpPr>
          <p:cNvPr id="144" name="Shape 124"/>
          <p:cNvSpPr/>
          <p:nvPr/>
        </p:nvSpPr>
        <p:spPr>
          <a:xfrm>
            <a:off x="409575" y="9043615"/>
            <a:ext cx="2171700" cy="704850"/>
          </a:xfrm>
          <a:prstGeom prst="roundRect">
            <a:avLst>
              <a:gd name="adj" fmla="val 10811"/>
            </a:avLst>
          </a:prstGeom>
          <a:ln w="9525">
            <a:solidFill>
              <a:srgbClr val="E0D9C7"/>
            </a:solidFill>
            <a:prstDash val="solid"/>
          </a:ln>
        </p:spPr>
      </p:sp>
      <p:pic>
        <p:nvPicPr>
          <p:cNvPr id="145" name="Image 18" descr="preencoded.png">    </p:cNvPr>
          <p:cNvPicPr>
            <a:picLocks noChangeAspect="1"/>
          </p:cNvPicPr>
          <p:nvPr/>
        </p:nvPicPr>
        <p:blipFill>
          <a:blip r:embed="rId31"/>
          <a:srcRect l="0" r="0" t="20000" b="30000"/>
          <a:stretch/>
        </p:blipFill>
        <p:spPr>
          <a:xfrm>
            <a:off x="419100" y="9053140"/>
            <a:ext cx="2152650" cy="685800"/>
          </a:xfrm>
          <a:prstGeom prst="rect">
            <a:avLst/>
          </a:prstGeom>
        </p:spPr>
      </p:pic>
      <p:sp>
        <p:nvSpPr>
          <p:cNvPr id="146" name="Shape 125"/>
          <p:cNvSpPr/>
          <p:nvPr/>
        </p:nvSpPr>
        <p:spPr>
          <a:xfrm>
            <a:off x="409575" y="9858003"/>
            <a:ext cx="285750" cy="285750"/>
          </a:xfrm>
          <a:prstGeom prst="ellipse">
            <a:avLst/>
          </a:prstGeom>
          <a:solidFill>
            <a:srgbClr val="4F5733"/>
          </a:solidFill>
          <a:ln/>
        </p:spPr>
      </p:sp>
      <p:pic>
        <p:nvPicPr>
          <p:cNvPr id="147" name="Image 19" descr="preencoded.png">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476250" y="9924678"/>
            <a:ext cx="152400" cy="152400"/>
          </a:xfrm>
          <a:prstGeom prst="rect">
            <a:avLst/>
          </a:prstGeom>
        </p:spPr>
      </p:pic>
      <p:sp>
        <p:nvSpPr>
          <p:cNvPr id="148" name="Text 126"/>
          <p:cNvSpPr/>
          <p:nvPr/>
        </p:nvSpPr>
        <p:spPr>
          <a:xfrm>
            <a:off x="771525" y="9877053"/>
            <a:ext cx="5715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C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内弯倒钩</a:t>
            </a:r>
            <a:endParaRPr lang="en-US" sz="975" dirty="0"/>
          </a:p>
        </p:txBody>
      </p:sp>
      <p:sp>
        <p:nvSpPr>
          <p:cNvPr id="149" name="Text 127"/>
          <p:cNvSpPr/>
          <p:nvPr/>
        </p:nvSpPr>
        <p:spPr>
          <a:xfrm>
            <a:off x="771525" y="10034215"/>
            <a:ext cx="101917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6F6D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向内弯曲，深入嵌固</a:t>
            </a:r>
            <a:endParaRPr lang="en-US" sz="825" dirty="0"/>
          </a:p>
        </p:txBody>
      </p:sp>
      <p:sp>
        <p:nvSpPr>
          <p:cNvPr id="150" name="Shape 128"/>
          <p:cNvSpPr/>
          <p:nvPr/>
        </p:nvSpPr>
        <p:spPr>
          <a:xfrm>
            <a:off x="409575" y="10267578"/>
            <a:ext cx="285750" cy="285750"/>
          </a:xfrm>
          <a:prstGeom prst="ellipse">
            <a:avLst/>
          </a:prstGeom>
          <a:solidFill>
            <a:srgbClr val="4F5733"/>
          </a:solidFill>
          <a:ln/>
        </p:spPr>
      </p:sp>
      <p:pic>
        <p:nvPicPr>
          <p:cNvPr id="151" name="Image 20" descr="preencoded.png">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476250" y="10334253"/>
            <a:ext cx="152400" cy="152400"/>
          </a:xfrm>
          <a:prstGeom prst="rect">
            <a:avLst/>
          </a:prstGeom>
        </p:spPr>
      </p:pic>
      <p:sp>
        <p:nvSpPr>
          <p:cNvPr id="152" name="Text 129"/>
          <p:cNvSpPr/>
          <p:nvPr/>
        </p:nvSpPr>
        <p:spPr>
          <a:xfrm>
            <a:off x="771525" y="10286628"/>
            <a:ext cx="5715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C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多排排列</a:t>
            </a:r>
            <a:endParaRPr lang="en-US" sz="975" dirty="0"/>
          </a:p>
        </p:txBody>
      </p:sp>
      <p:sp>
        <p:nvSpPr>
          <p:cNvPr id="153" name="Text 130"/>
          <p:cNvSpPr/>
          <p:nvPr/>
        </p:nvSpPr>
        <p:spPr>
          <a:xfrm>
            <a:off x="771525" y="10443790"/>
            <a:ext cx="9144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6F6D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错位排布增大接触</a:t>
            </a:r>
            <a:endParaRPr lang="en-US" sz="825" dirty="0"/>
          </a:p>
        </p:txBody>
      </p:sp>
      <p:sp>
        <p:nvSpPr>
          <p:cNvPr id="154" name="Shape 131"/>
          <p:cNvSpPr/>
          <p:nvPr/>
        </p:nvSpPr>
        <p:spPr>
          <a:xfrm>
            <a:off x="409575" y="10677153"/>
            <a:ext cx="285750" cy="285750"/>
          </a:xfrm>
          <a:prstGeom prst="ellipse">
            <a:avLst/>
          </a:prstGeom>
          <a:solidFill>
            <a:srgbClr val="4F5733"/>
          </a:solidFill>
          <a:ln/>
        </p:spPr>
      </p:sp>
      <p:pic>
        <p:nvPicPr>
          <p:cNvPr id="155" name="Image 21" descr="preencoded.png">    </p:cNvPr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476250" y="10743828"/>
            <a:ext cx="152400" cy="152400"/>
          </a:xfrm>
          <a:prstGeom prst="rect">
            <a:avLst/>
          </a:prstGeom>
        </p:spPr>
      </p:pic>
      <p:sp>
        <p:nvSpPr>
          <p:cNvPr id="156" name="Text 132"/>
          <p:cNvSpPr/>
          <p:nvPr/>
        </p:nvSpPr>
        <p:spPr>
          <a:xfrm>
            <a:off x="771525" y="10696203"/>
            <a:ext cx="5715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C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越拉越紧</a:t>
            </a:r>
            <a:endParaRPr lang="en-US" sz="975" dirty="0"/>
          </a:p>
        </p:txBody>
      </p:sp>
      <p:sp>
        <p:nvSpPr>
          <p:cNvPr id="157" name="Text 133"/>
          <p:cNvSpPr/>
          <p:nvPr/>
        </p:nvSpPr>
        <p:spPr>
          <a:xfrm>
            <a:off x="771525" y="10853365"/>
            <a:ext cx="9144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6F6D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反向拉动嵌入更深</a:t>
            </a:r>
            <a:endParaRPr lang="en-US" sz="825" dirty="0"/>
          </a:p>
        </p:txBody>
      </p:sp>
      <p:sp>
        <p:nvSpPr>
          <p:cNvPr id="158" name="Shape 134"/>
          <p:cNvSpPr/>
          <p:nvPr/>
        </p:nvSpPr>
        <p:spPr>
          <a:xfrm>
            <a:off x="409575" y="11086728"/>
            <a:ext cx="285750" cy="285750"/>
          </a:xfrm>
          <a:prstGeom prst="ellipse">
            <a:avLst/>
          </a:prstGeom>
          <a:solidFill>
            <a:srgbClr val="4F5733"/>
          </a:solidFill>
          <a:ln/>
        </p:spPr>
      </p:sp>
      <p:pic>
        <p:nvPicPr>
          <p:cNvPr id="159" name="Image 22" descr="preencoded.png">    </p:cNvPr>
          <p:cNvPicPr>
            <a:picLocks noChangeAspect="1"/>
          </p:cNvPicPr>
          <p:nvPr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476250" y="11153403"/>
            <a:ext cx="152400" cy="152400"/>
          </a:xfrm>
          <a:prstGeom prst="rect">
            <a:avLst/>
          </a:prstGeom>
        </p:spPr>
      </p:pic>
      <p:sp>
        <p:nvSpPr>
          <p:cNvPr id="160" name="Text 135"/>
          <p:cNvSpPr/>
          <p:nvPr/>
        </p:nvSpPr>
        <p:spPr>
          <a:xfrm>
            <a:off x="771525" y="11105778"/>
            <a:ext cx="5715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C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单向释放</a:t>
            </a:r>
            <a:endParaRPr lang="en-US" sz="975" dirty="0"/>
          </a:p>
        </p:txBody>
      </p:sp>
      <p:sp>
        <p:nvSpPr>
          <p:cNvPr id="161" name="Text 136"/>
          <p:cNvSpPr/>
          <p:nvPr/>
        </p:nvSpPr>
        <p:spPr>
          <a:xfrm>
            <a:off x="771525" y="11262940"/>
            <a:ext cx="80962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6F6D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顺向推入即脱离</a:t>
            </a:r>
            <a:endParaRPr lang="en-US" sz="825" dirty="0"/>
          </a:p>
        </p:txBody>
      </p:sp>
      <p:sp>
        <p:nvSpPr>
          <p:cNvPr id="162" name="Text 137"/>
          <p:cNvSpPr/>
          <p:nvPr/>
        </p:nvSpPr>
        <p:spPr>
          <a:xfrm>
            <a:off x="2771775" y="8767390"/>
            <a:ext cx="756475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3F45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草图推演 </a:t>
            </a:r>
            <a:pPr algn="l" indent="0" marL="0">
              <a:buNone/>
            </a:pPr>
            <a:r>
              <a:rPr lang="en-US" sz="750" b="1" dirty="0">
                <a:solidFill>
                  <a:srgbClr val="9A9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SKETCH DEVELOPMENT</a:t>
            </a:r>
            <a:endParaRPr lang="en-US" sz="1125" dirty="0"/>
          </a:p>
        </p:txBody>
      </p:sp>
      <p:sp>
        <p:nvSpPr>
          <p:cNvPr id="163" name="Shape 138"/>
          <p:cNvSpPr/>
          <p:nvPr/>
        </p:nvSpPr>
        <p:spPr>
          <a:xfrm>
            <a:off x="2771775" y="9015040"/>
            <a:ext cx="6877050" cy="12192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0D9C7"/>
            </a:solidFill>
            <a:prstDash val="solid"/>
          </a:ln>
        </p:spPr>
      </p:sp>
      <p:pic>
        <p:nvPicPr>
          <p:cNvPr id="164" name="Image 23" descr="preencoded.png">    </p:cNvPr>
          <p:cNvPicPr>
            <a:picLocks noChangeAspect="1"/>
          </p:cNvPicPr>
          <p:nvPr/>
        </p:nvPicPr>
        <p:blipFill>
          <a:blip r:embed="rId40"/>
          <a:srcRect l="-199928" r="-199928" t="0" b="0"/>
          <a:stretch/>
        </p:blipFill>
        <p:spPr>
          <a:xfrm>
            <a:off x="2828925" y="9072190"/>
            <a:ext cx="6762750" cy="1104900"/>
          </a:xfrm>
          <a:prstGeom prst="rect">
            <a:avLst/>
          </a:prstGeom>
        </p:spPr>
      </p:pic>
      <p:sp>
        <p:nvSpPr>
          <p:cNvPr id="165" name="Text 139"/>
          <p:cNvSpPr/>
          <p:nvPr/>
        </p:nvSpPr>
        <p:spPr>
          <a:xfrm>
            <a:off x="9839325" y="8767390"/>
            <a:ext cx="37719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3F45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方案生成 </a:t>
            </a:r>
            <a:pPr algn="l" indent="0" marL="0">
              <a:buNone/>
            </a:pPr>
            <a:r>
              <a:rPr lang="en-US" sz="750" b="1" dirty="0">
                <a:solidFill>
                  <a:srgbClr val="9A9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SOLUTION</a:t>
            </a:r>
            <a:endParaRPr lang="en-US" sz="1125" dirty="0"/>
          </a:p>
        </p:txBody>
      </p:sp>
      <p:sp>
        <p:nvSpPr>
          <p:cNvPr id="166" name="Shape 140"/>
          <p:cNvSpPr/>
          <p:nvPr/>
        </p:nvSpPr>
        <p:spPr>
          <a:xfrm>
            <a:off x="9839325" y="9043615"/>
            <a:ext cx="1123950" cy="207645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E0D9C7"/>
            </a:solidFill>
            <a:prstDash val="solid"/>
          </a:ln>
        </p:spPr>
      </p:sp>
      <p:pic>
        <p:nvPicPr>
          <p:cNvPr id="167" name="Image 24" descr="preencoded.png">    </p:cNvPr>
          <p:cNvPicPr>
            <a:picLocks noChangeAspect="1"/>
          </p:cNvPicPr>
          <p:nvPr/>
        </p:nvPicPr>
        <p:blipFill>
          <a:blip r:embed="rId41"/>
          <a:srcRect l="-14882" r="-14882" t="0" b="0"/>
          <a:stretch/>
        </p:blipFill>
        <p:spPr>
          <a:xfrm>
            <a:off x="9848850" y="9053140"/>
            <a:ext cx="1104900" cy="2057400"/>
          </a:xfrm>
          <a:prstGeom prst="rect">
            <a:avLst/>
          </a:prstGeom>
        </p:spPr>
      </p:pic>
      <p:sp>
        <p:nvSpPr>
          <p:cNvPr id="168" name="Text 141"/>
          <p:cNvSpPr/>
          <p:nvPr/>
        </p:nvSpPr>
        <p:spPr>
          <a:xfrm>
            <a:off x="11068050" y="9124578"/>
            <a:ext cx="84772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3F45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外层柔性指体</a:t>
            </a:r>
            <a:endParaRPr lang="en-US" sz="1013" dirty="0"/>
          </a:p>
        </p:txBody>
      </p:sp>
      <p:sp>
        <p:nvSpPr>
          <p:cNvPr id="169" name="Text 142"/>
          <p:cNvSpPr/>
          <p:nvPr/>
        </p:nvSpPr>
        <p:spPr>
          <a:xfrm>
            <a:off x="11068050" y="9281740"/>
            <a:ext cx="2420303" cy="185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863" dirty="0">
                <a:solidFill>
                  <a:srgbClr val="6F6D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柔性包覆，贴合物体表面</a:t>
            </a:r>
            <a:endParaRPr lang="en-US" sz="863" dirty="0"/>
          </a:p>
        </p:txBody>
      </p:sp>
      <p:sp>
        <p:nvSpPr>
          <p:cNvPr id="170" name="Text 143"/>
          <p:cNvSpPr/>
          <p:nvPr/>
        </p:nvSpPr>
        <p:spPr>
          <a:xfrm>
            <a:off x="11068050" y="9558189"/>
            <a:ext cx="97631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3F45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方向性微钩内衬</a:t>
            </a:r>
            <a:endParaRPr lang="en-US" sz="1013" dirty="0"/>
          </a:p>
        </p:txBody>
      </p:sp>
      <p:sp>
        <p:nvSpPr>
          <p:cNvPr id="171" name="Text 144"/>
          <p:cNvSpPr/>
          <p:nvPr/>
        </p:nvSpPr>
        <p:spPr>
          <a:xfrm>
            <a:off x="11068050" y="9715351"/>
            <a:ext cx="2420303" cy="185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863" dirty="0">
                <a:solidFill>
                  <a:srgbClr val="6F6D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内弯倒钩提供单向锁紧</a:t>
            </a:r>
            <a:endParaRPr lang="en-US" sz="863" dirty="0"/>
          </a:p>
        </p:txBody>
      </p:sp>
      <p:sp>
        <p:nvSpPr>
          <p:cNvPr id="172" name="Text 145"/>
          <p:cNvSpPr/>
          <p:nvPr/>
        </p:nvSpPr>
        <p:spPr>
          <a:xfrm>
            <a:off x="11068050" y="9991799"/>
            <a:ext cx="84772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3F45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顺应性缓冲层</a:t>
            </a:r>
            <a:endParaRPr lang="en-US" sz="1013" dirty="0"/>
          </a:p>
        </p:txBody>
      </p:sp>
      <p:sp>
        <p:nvSpPr>
          <p:cNvPr id="173" name="Text 146"/>
          <p:cNvSpPr/>
          <p:nvPr/>
        </p:nvSpPr>
        <p:spPr>
          <a:xfrm>
            <a:off x="11068050" y="10148962"/>
            <a:ext cx="2420303" cy="185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863" dirty="0">
                <a:solidFill>
                  <a:srgbClr val="6F6D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多孔结构分散应力</a:t>
            </a:r>
            <a:endParaRPr lang="en-US" sz="863" dirty="0"/>
          </a:p>
        </p:txBody>
      </p:sp>
      <p:sp>
        <p:nvSpPr>
          <p:cNvPr id="174" name="Text 147"/>
          <p:cNvSpPr/>
          <p:nvPr/>
        </p:nvSpPr>
        <p:spPr>
          <a:xfrm>
            <a:off x="11068050" y="10425410"/>
            <a:ext cx="71913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3F45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驱动连接座</a:t>
            </a:r>
            <a:endParaRPr lang="en-US" sz="1013" dirty="0"/>
          </a:p>
        </p:txBody>
      </p:sp>
      <p:sp>
        <p:nvSpPr>
          <p:cNvPr id="175" name="Text 148"/>
          <p:cNvSpPr/>
          <p:nvPr/>
        </p:nvSpPr>
        <p:spPr>
          <a:xfrm>
            <a:off x="11068050" y="10582573"/>
            <a:ext cx="2420303" cy="185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863" dirty="0">
                <a:solidFill>
                  <a:srgbClr val="6F6D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连接电机/气动机构</a:t>
            </a:r>
            <a:endParaRPr lang="en-US" sz="863" dirty="0"/>
          </a:p>
        </p:txBody>
      </p:sp>
      <p:sp>
        <p:nvSpPr>
          <p:cNvPr id="176" name="Text 149"/>
          <p:cNvSpPr/>
          <p:nvPr/>
        </p:nvSpPr>
        <p:spPr>
          <a:xfrm>
            <a:off x="11068050" y="10859021"/>
            <a:ext cx="71913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3F45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末端抓取面</a:t>
            </a:r>
            <a:endParaRPr lang="en-US" sz="1013" dirty="0"/>
          </a:p>
        </p:txBody>
      </p:sp>
      <p:sp>
        <p:nvSpPr>
          <p:cNvPr id="177" name="Text 150"/>
          <p:cNvSpPr/>
          <p:nvPr/>
        </p:nvSpPr>
        <p:spPr>
          <a:xfrm>
            <a:off x="11068050" y="11016183"/>
            <a:ext cx="2420303" cy="185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863" dirty="0">
                <a:solidFill>
                  <a:srgbClr val="6F6D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微钩朝内包覆稳固抓取</a:t>
            </a:r>
            <a:endParaRPr lang="en-US" sz="863" dirty="0"/>
          </a:p>
        </p:txBody>
      </p:sp>
      <p:sp>
        <p:nvSpPr>
          <p:cNvPr id="178" name="Shape 151"/>
          <p:cNvSpPr/>
          <p:nvPr/>
        </p:nvSpPr>
        <p:spPr>
          <a:xfrm>
            <a:off x="13458825" y="8767390"/>
            <a:ext cx="2133600" cy="2647950"/>
          </a:xfrm>
          <a:prstGeom prst="roundRect">
            <a:avLst>
              <a:gd name="adj" fmla="val 3571"/>
            </a:avLst>
          </a:prstGeom>
          <a:solidFill>
            <a:srgbClr val="ECEADB"/>
          </a:solidFill>
          <a:ln/>
        </p:spPr>
      </p:sp>
      <p:sp>
        <p:nvSpPr>
          <p:cNvPr id="179" name="Text 152"/>
          <p:cNvSpPr/>
          <p:nvPr/>
        </p:nvSpPr>
        <p:spPr>
          <a:xfrm>
            <a:off x="13573125" y="8853115"/>
            <a:ext cx="1981200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3F45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设计如何体现 "向自然学习"</a:t>
            </a:r>
            <a:endParaRPr lang="en-US" sz="1050" dirty="0"/>
          </a:p>
        </p:txBody>
      </p:sp>
      <p:sp>
        <p:nvSpPr>
          <p:cNvPr id="180" name="Shape 153"/>
          <p:cNvSpPr/>
          <p:nvPr/>
        </p:nvSpPr>
        <p:spPr>
          <a:xfrm>
            <a:off x="13573125" y="9294986"/>
            <a:ext cx="342900" cy="342900"/>
          </a:xfrm>
          <a:prstGeom prst="ellipse">
            <a:avLst/>
          </a:prstGeom>
          <a:ln w="14288">
            <a:solidFill>
              <a:srgbClr val="7C8458"/>
            </a:solidFill>
            <a:prstDash val="solid"/>
          </a:ln>
        </p:spPr>
      </p:sp>
      <p:pic>
        <p:nvPicPr>
          <p:cNvPr id="181" name="Image 25" descr="preencoded.png">    </p:cNvPr>
          <p:cNvPicPr>
            <a:picLocks noChangeAspect="1"/>
          </p:cNvPicPr>
          <p:nvPr/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13649325" y="9371186"/>
            <a:ext cx="190500" cy="190500"/>
          </a:xfrm>
          <a:prstGeom prst="rect">
            <a:avLst/>
          </a:prstGeom>
        </p:spPr>
      </p:pic>
      <p:sp>
        <p:nvSpPr>
          <p:cNvPr id="182" name="Text 154"/>
          <p:cNvSpPr/>
          <p:nvPr/>
        </p:nvSpPr>
        <p:spPr>
          <a:xfrm>
            <a:off x="14011275" y="9356899"/>
            <a:ext cx="5905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2C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结构仿生</a:t>
            </a:r>
            <a:endParaRPr lang="en-US" sz="1013" dirty="0"/>
          </a:p>
        </p:txBody>
      </p:sp>
      <p:sp>
        <p:nvSpPr>
          <p:cNvPr id="183" name="Text 155"/>
          <p:cNvSpPr/>
          <p:nvPr/>
        </p:nvSpPr>
        <p:spPr>
          <a:xfrm>
            <a:off x="14011275" y="9514061"/>
            <a:ext cx="1566386" cy="185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863" dirty="0">
                <a:solidFill>
                  <a:srgbClr val="6F6D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模仿牙齿内弯倒钩与多排排列</a:t>
            </a:r>
            <a:endParaRPr lang="en-US" sz="863" dirty="0"/>
          </a:p>
        </p:txBody>
      </p:sp>
      <p:sp>
        <p:nvSpPr>
          <p:cNvPr id="184" name="Shape 156"/>
          <p:cNvSpPr/>
          <p:nvPr/>
        </p:nvSpPr>
        <p:spPr>
          <a:xfrm>
            <a:off x="13573125" y="9728597"/>
            <a:ext cx="342900" cy="342900"/>
          </a:xfrm>
          <a:prstGeom prst="ellipse">
            <a:avLst/>
          </a:prstGeom>
          <a:ln w="14288">
            <a:solidFill>
              <a:srgbClr val="7C8458"/>
            </a:solidFill>
            <a:prstDash val="solid"/>
          </a:ln>
        </p:spPr>
      </p:sp>
      <p:pic>
        <p:nvPicPr>
          <p:cNvPr id="185" name="Image 26" descr="preencoded.png">    </p:cNvPr>
          <p:cNvPicPr>
            <a:picLocks noChangeAspect="1"/>
          </p:cNvPicPr>
          <p:nvPr/>
        </p:nvPicPr>
        <p:blipFill>
          <a:blip r:embed="rId44"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13649325" y="9804797"/>
            <a:ext cx="190500" cy="190500"/>
          </a:xfrm>
          <a:prstGeom prst="rect">
            <a:avLst/>
          </a:prstGeom>
        </p:spPr>
      </p:pic>
      <p:sp>
        <p:nvSpPr>
          <p:cNvPr id="186" name="Text 157"/>
          <p:cNvSpPr/>
          <p:nvPr/>
        </p:nvSpPr>
        <p:spPr>
          <a:xfrm>
            <a:off x="14011275" y="9790509"/>
            <a:ext cx="5905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2C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功能仿生</a:t>
            </a:r>
            <a:endParaRPr lang="en-US" sz="1013" dirty="0"/>
          </a:p>
        </p:txBody>
      </p:sp>
      <p:sp>
        <p:nvSpPr>
          <p:cNvPr id="187" name="Text 158"/>
          <p:cNvSpPr/>
          <p:nvPr/>
        </p:nvSpPr>
        <p:spPr>
          <a:xfrm>
            <a:off x="14011275" y="9947672"/>
            <a:ext cx="1062038" cy="185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863" dirty="0">
                <a:solidFill>
                  <a:srgbClr val="6F6D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反向锁紧、顺向释放</a:t>
            </a:r>
            <a:endParaRPr lang="en-US" sz="863" dirty="0"/>
          </a:p>
        </p:txBody>
      </p:sp>
      <p:sp>
        <p:nvSpPr>
          <p:cNvPr id="188" name="Shape 159"/>
          <p:cNvSpPr/>
          <p:nvPr/>
        </p:nvSpPr>
        <p:spPr>
          <a:xfrm>
            <a:off x="13573125" y="10162208"/>
            <a:ext cx="342900" cy="342900"/>
          </a:xfrm>
          <a:prstGeom prst="ellipse">
            <a:avLst/>
          </a:prstGeom>
          <a:ln w="14288">
            <a:solidFill>
              <a:srgbClr val="7C8458"/>
            </a:solidFill>
            <a:prstDash val="solid"/>
          </a:ln>
        </p:spPr>
      </p:sp>
      <p:pic>
        <p:nvPicPr>
          <p:cNvPr id="189" name="Image 27" descr="preencoded.png">    </p:cNvPr>
          <p:cNvPicPr>
            <a:picLocks noChangeAspect="1"/>
          </p:cNvPicPr>
          <p:nvPr/>
        </p:nvPicPr>
        <p:blipFill>
          <a:blip r:embed="rId46"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13649325" y="10238408"/>
            <a:ext cx="190500" cy="190500"/>
          </a:xfrm>
          <a:prstGeom prst="rect">
            <a:avLst/>
          </a:prstGeom>
        </p:spPr>
      </p:pic>
      <p:sp>
        <p:nvSpPr>
          <p:cNvPr id="190" name="Text 160"/>
          <p:cNvSpPr/>
          <p:nvPr/>
        </p:nvSpPr>
        <p:spPr>
          <a:xfrm>
            <a:off x="14011275" y="10224120"/>
            <a:ext cx="5905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2C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材料策略</a:t>
            </a:r>
            <a:endParaRPr lang="en-US" sz="1013" dirty="0"/>
          </a:p>
        </p:txBody>
      </p:sp>
      <p:sp>
        <p:nvSpPr>
          <p:cNvPr id="191" name="Text 161"/>
          <p:cNvSpPr/>
          <p:nvPr/>
        </p:nvSpPr>
        <p:spPr>
          <a:xfrm>
            <a:off x="14011275" y="10381283"/>
            <a:ext cx="1459237" cy="185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863" dirty="0">
                <a:solidFill>
                  <a:srgbClr val="6F6D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柔性指体+微钩+缓冲层组合</a:t>
            </a:r>
            <a:endParaRPr lang="en-US" sz="863" dirty="0"/>
          </a:p>
        </p:txBody>
      </p:sp>
      <p:sp>
        <p:nvSpPr>
          <p:cNvPr id="192" name="Shape 162"/>
          <p:cNvSpPr/>
          <p:nvPr/>
        </p:nvSpPr>
        <p:spPr>
          <a:xfrm>
            <a:off x="13573125" y="10595818"/>
            <a:ext cx="342900" cy="342900"/>
          </a:xfrm>
          <a:prstGeom prst="ellipse">
            <a:avLst/>
          </a:prstGeom>
          <a:ln w="14288">
            <a:solidFill>
              <a:srgbClr val="7C8458"/>
            </a:solidFill>
            <a:prstDash val="solid"/>
          </a:ln>
        </p:spPr>
      </p:sp>
      <p:pic>
        <p:nvPicPr>
          <p:cNvPr id="193" name="Image 28" descr="preencoded.png">    </p:cNvPr>
          <p:cNvPicPr>
            <a:picLocks noChangeAspect="1"/>
          </p:cNvPicPr>
          <p:nvPr/>
        </p:nvPicPr>
        <p:blipFill>
          <a:blip r:embed="rId48"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13649325" y="10672018"/>
            <a:ext cx="190500" cy="190500"/>
          </a:xfrm>
          <a:prstGeom prst="rect">
            <a:avLst/>
          </a:prstGeom>
        </p:spPr>
      </p:pic>
      <p:sp>
        <p:nvSpPr>
          <p:cNvPr id="194" name="Text 163"/>
          <p:cNvSpPr/>
          <p:nvPr/>
        </p:nvSpPr>
        <p:spPr>
          <a:xfrm>
            <a:off x="14011275" y="10657731"/>
            <a:ext cx="5905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2C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工程适配</a:t>
            </a:r>
            <a:endParaRPr lang="en-US" sz="1013" dirty="0"/>
          </a:p>
        </p:txBody>
      </p:sp>
      <p:sp>
        <p:nvSpPr>
          <p:cNvPr id="195" name="Text 164"/>
          <p:cNvSpPr/>
          <p:nvPr/>
        </p:nvSpPr>
        <p:spPr>
          <a:xfrm>
            <a:off x="14011275" y="10814893"/>
            <a:ext cx="1171575" cy="185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863" dirty="0">
                <a:solidFill>
                  <a:srgbClr val="6F6D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模块化结构与标准接口</a:t>
            </a:r>
            <a:endParaRPr lang="en-US" sz="863" dirty="0"/>
          </a:p>
        </p:txBody>
      </p:sp>
      <p:sp>
        <p:nvSpPr>
          <p:cNvPr id="196" name="Shape 165"/>
          <p:cNvSpPr/>
          <p:nvPr/>
        </p:nvSpPr>
        <p:spPr>
          <a:xfrm>
            <a:off x="247650" y="11615365"/>
            <a:ext cx="15506700" cy="2962275"/>
          </a:xfrm>
          <a:prstGeom prst="roundRect">
            <a:avLst>
              <a:gd name="adj" fmla="val 2894"/>
            </a:avLst>
          </a:prstGeom>
          <a:solidFill>
            <a:srgbClr val="F6F3EA"/>
          </a:solidFill>
          <a:ln w="9525">
            <a:solidFill>
              <a:srgbClr val="DDD6C4"/>
            </a:solidFill>
            <a:prstDash val="solid"/>
          </a:ln>
        </p:spPr>
      </p:sp>
      <p:sp>
        <p:nvSpPr>
          <p:cNvPr id="197" name="Shape 166"/>
          <p:cNvSpPr/>
          <p:nvPr/>
        </p:nvSpPr>
        <p:spPr>
          <a:xfrm>
            <a:off x="409575" y="12124953"/>
            <a:ext cx="15182850" cy="9525"/>
          </a:xfrm>
          <a:prstGeom prst="rect">
            <a:avLst/>
          </a:prstGeom>
          <a:solidFill>
            <a:srgbClr val="E3DDCC"/>
          </a:solidFill>
          <a:ln/>
        </p:spPr>
      </p:sp>
      <p:sp>
        <p:nvSpPr>
          <p:cNvPr id="198" name="Text 167"/>
          <p:cNvSpPr/>
          <p:nvPr/>
        </p:nvSpPr>
        <p:spPr>
          <a:xfrm>
            <a:off x="409575" y="11753478"/>
            <a:ext cx="26684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B73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</a:t>
            </a:r>
            <a:endParaRPr lang="en-US" sz="1800" dirty="0"/>
          </a:p>
        </p:txBody>
      </p:sp>
      <p:sp>
        <p:nvSpPr>
          <p:cNvPr id="199" name="Text 168"/>
          <p:cNvSpPr/>
          <p:nvPr/>
        </p:nvSpPr>
        <p:spPr>
          <a:xfrm>
            <a:off x="685949" y="11720140"/>
            <a:ext cx="176022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应用流程与场景</a:t>
            </a:r>
            <a:endParaRPr lang="en-US" sz="1800" dirty="0"/>
          </a:p>
        </p:txBody>
      </p:sp>
      <p:sp>
        <p:nvSpPr>
          <p:cNvPr id="200" name="Text 169"/>
          <p:cNvSpPr/>
          <p:nvPr/>
        </p:nvSpPr>
        <p:spPr>
          <a:xfrm>
            <a:off x="2371874" y="11848728"/>
            <a:ext cx="2113508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98" kern="0" dirty="0">
                <a:solidFill>
                  <a:srgbClr val="9A9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APPLICATION WORKFLOW</a:t>
            </a:r>
            <a:endParaRPr lang="en-US" sz="975" dirty="0"/>
          </a:p>
        </p:txBody>
      </p:sp>
      <p:sp>
        <p:nvSpPr>
          <p:cNvPr id="201" name="Shape 170"/>
          <p:cNvSpPr/>
          <p:nvPr/>
        </p:nvSpPr>
        <p:spPr>
          <a:xfrm>
            <a:off x="409575" y="12267828"/>
            <a:ext cx="3552825" cy="2205038"/>
          </a:xfrm>
          <a:prstGeom prst="roundRect">
            <a:avLst>
              <a:gd name="adj" fmla="val 3888"/>
            </a:avLst>
          </a:prstGeom>
          <a:solidFill>
            <a:srgbClr val="ECEADB"/>
          </a:solidFill>
          <a:ln/>
        </p:spPr>
      </p:sp>
      <p:sp>
        <p:nvSpPr>
          <p:cNvPr id="202" name="Shape 171"/>
          <p:cNvSpPr/>
          <p:nvPr/>
        </p:nvSpPr>
        <p:spPr>
          <a:xfrm>
            <a:off x="542925" y="12401178"/>
            <a:ext cx="247650" cy="247650"/>
          </a:xfrm>
          <a:prstGeom prst="ellipse">
            <a:avLst/>
          </a:prstGeom>
          <a:solidFill>
            <a:srgbClr val="4F5733"/>
          </a:solidFill>
          <a:ln/>
        </p:spPr>
      </p:sp>
      <p:sp>
        <p:nvSpPr>
          <p:cNvPr id="203" name="Text 172"/>
          <p:cNvSpPr/>
          <p:nvPr/>
        </p:nvSpPr>
        <p:spPr>
          <a:xfrm>
            <a:off x="504825" y="12401178"/>
            <a:ext cx="3238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50" dirty="0"/>
          </a:p>
        </p:txBody>
      </p:sp>
      <p:sp>
        <p:nvSpPr>
          <p:cNvPr id="204" name="Text 173"/>
          <p:cNvSpPr/>
          <p:nvPr/>
        </p:nvSpPr>
        <p:spPr>
          <a:xfrm>
            <a:off x="866775" y="12410703"/>
            <a:ext cx="7239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2C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接触贴合</a:t>
            </a:r>
            <a:endParaRPr lang="en-US" sz="1275" dirty="0"/>
          </a:p>
        </p:txBody>
      </p:sp>
      <p:sp>
        <p:nvSpPr>
          <p:cNvPr id="205" name="Shape 174"/>
          <p:cNvSpPr/>
          <p:nvPr/>
        </p:nvSpPr>
        <p:spPr>
          <a:xfrm>
            <a:off x="542925" y="12744078"/>
            <a:ext cx="3286125" cy="1143000"/>
          </a:xfrm>
          <a:prstGeom prst="roundRect">
            <a:avLst>
              <a:gd name="adj" fmla="val 6667"/>
            </a:avLst>
          </a:prstGeom>
          <a:solidFill>
            <a:srgbClr val="F6F3EA"/>
          </a:solidFill>
          <a:ln/>
        </p:spPr>
      </p:sp>
      <p:pic>
        <p:nvPicPr>
          <p:cNvPr id="206" name="Image 29" descr="preencoded.png">    </p:cNvPr>
          <p:cNvPicPr>
            <a:picLocks noChangeAspect="1"/>
          </p:cNvPicPr>
          <p:nvPr/>
        </p:nvPicPr>
        <p:blipFill>
          <a:blip r:embed="rId50"/>
          <a:srcRect l="0" r="0" t="33845" b="33845"/>
          <a:stretch/>
        </p:blipFill>
        <p:spPr>
          <a:xfrm>
            <a:off x="542925" y="12744078"/>
            <a:ext cx="3286125" cy="1143000"/>
          </a:xfrm>
          <a:prstGeom prst="rect">
            <a:avLst/>
          </a:prstGeom>
        </p:spPr>
      </p:pic>
      <p:sp>
        <p:nvSpPr>
          <p:cNvPr id="207" name="Text 175"/>
          <p:cNvSpPr/>
          <p:nvPr/>
        </p:nvSpPr>
        <p:spPr>
          <a:xfrm>
            <a:off x="542925" y="13982328"/>
            <a:ext cx="3384709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38" dirty="0">
                <a:solidFill>
                  <a:srgbClr val="5A5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指尖主动伸出，外层柔性指体与物体表面接触，缓冲层顺应贴合。</a:t>
            </a:r>
            <a:endParaRPr lang="en-US" sz="938" dirty="0"/>
          </a:p>
        </p:txBody>
      </p:sp>
      <p:sp>
        <p:nvSpPr>
          <p:cNvPr id="208" name="Text 176"/>
          <p:cNvSpPr/>
          <p:nvPr/>
        </p:nvSpPr>
        <p:spPr>
          <a:xfrm>
            <a:off x="3924300" y="12267828"/>
            <a:ext cx="400050" cy="2243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7E8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209" name="Shape 177"/>
          <p:cNvSpPr/>
          <p:nvPr/>
        </p:nvSpPr>
        <p:spPr>
          <a:xfrm>
            <a:off x="4286250" y="12267828"/>
            <a:ext cx="3552825" cy="2205038"/>
          </a:xfrm>
          <a:prstGeom prst="roundRect">
            <a:avLst>
              <a:gd name="adj" fmla="val 3888"/>
            </a:avLst>
          </a:prstGeom>
          <a:solidFill>
            <a:srgbClr val="ECEADB"/>
          </a:solidFill>
          <a:ln/>
        </p:spPr>
      </p:sp>
      <p:sp>
        <p:nvSpPr>
          <p:cNvPr id="210" name="Shape 178"/>
          <p:cNvSpPr/>
          <p:nvPr/>
        </p:nvSpPr>
        <p:spPr>
          <a:xfrm>
            <a:off x="4419600" y="12401178"/>
            <a:ext cx="247650" cy="247650"/>
          </a:xfrm>
          <a:prstGeom prst="ellipse">
            <a:avLst/>
          </a:prstGeom>
          <a:solidFill>
            <a:srgbClr val="4F5733"/>
          </a:solidFill>
          <a:ln/>
        </p:spPr>
      </p:sp>
      <p:sp>
        <p:nvSpPr>
          <p:cNvPr id="211" name="Text 179"/>
          <p:cNvSpPr/>
          <p:nvPr/>
        </p:nvSpPr>
        <p:spPr>
          <a:xfrm>
            <a:off x="4381500" y="12401178"/>
            <a:ext cx="3238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50" dirty="0"/>
          </a:p>
        </p:txBody>
      </p:sp>
      <p:sp>
        <p:nvSpPr>
          <p:cNvPr id="212" name="Text 180"/>
          <p:cNvSpPr/>
          <p:nvPr/>
        </p:nvSpPr>
        <p:spPr>
          <a:xfrm>
            <a:off x="4743450" y="12410703"/>
            <a:ext cx="7239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2C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方向锁紧</a:t>
            </a:r>
            <a:endParaRPr lang="en-US" sz="1275" dirty="0"/>
          </a:p>
        </p:txBody>
      </p:sp>
      <p:sp>
        <p:nvSpPr>
          <p:cNvPr id="213" name="Shape 181"/>
          <p:cNvSpPr/>
          <p:nvPr/>
        </p:nvSpPr>
        <p:spPr>
          <a:xfrm>
            <a:off x="4419600" y="12744078"/>
            <a:ext cx="3286125" cy="1143000"/>
          </a:xfrm>
          <a:prstGeom prst="roundRect">
            <a:avLst>
              <a:gd name="adj" fmla="val 6667"/>
            </a:avLst>
          </a:prstGeom>
          <a:solidFill>
            <a:srgbClr val="F6F3EA"/>
          </a:solidFill>
          <a:ln/>
        </p:spPr>
      </p:sp>
      <p:pic>
        <p:nvPicPr>
          <p:cNvPr id="214" name="Image 30" descr="preencoded.png">    </p:cNvPr>
          <p:cNvPicPr>
            <a:picLocks noChangeAspect="1"/>
          </p:cNvPicPr>
          <p:nvPr/>
        </p:nvPicPr>
        <p:blipFill>
          <a:blip r:embed="rId51"/>
          <a:srcRect l="0" r="0" t="34541" b="34541"/>
          <a:stretch/>
        </p:blipFill>
        <p:spPr>
          <a:xfrm>
            <a:off x="4419600" y="12744078"/>
            <a:ext cx="3286125" cy="1143000"/>
          </a:xfrm>
          <a:prstGeom prst="rect">
            <a:avLst/>
          </a:prstGeom>
        </p:spPr>
      </p:pic>
      <p:sp>
        <p:nvSpPr>
          <p:cNvPr id="215" name="Text 182"/>
          <p:cNvSpPr/>
          <p:nvPr/>
        </p:nvSpPr>
        <p:spPr>
          <a:xfrm>
            <a:off x="4419600" y="13982328"/>
            <a:ext cx="3384709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38" dirty="0">
                <a:solidFill>
                  <a:srgbClr val="5A5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反向拉动或负载使微钩内衬嵌入，越拉越紧，建立稳定固持力。</a:t>
            </a:r>
            <a:endParaRPr lang="en-US" sz="938" dirty="0"/>
          </a:p>
        </p:txBody>
      </p:sp>
      <p:sp>
        <p:nvSpPr>
          <p:cNvPr id="216" name="Text 183"/>
          <p:cNvSpPr/>
          <p:nvPr/>
        </p:nvSpPr>
        <p:spPr>
          <a:xfrm>
            <a:off x="7800975" y="12267828"/>
            <a:ext cx="400050" cy="2243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7E8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217" name="Shape 184"/>
          <p:cNvSpPr/>
          <p:nvPr/>
        </p:nvSpPr>
        <p:spPr>
          <a:xfrm>
            <a:off x="8162925" y="12267828"/>
            <a:ext cx="3552825" cy="2205038"/>
          </a:xfrm>
          <a:prstGeom prst="roundRect">
            <a:avLst>
              <a:gd name="adj" fmla="val 3888"/>
            </a:avLst>
          </a:prstGeom>
          <a:solidFill>
            <a:srgbClr val="ECEADB"/>
          </a:solidFill>
          <a:ln/>
        </p:spPr>
      </p:sp>
      <p:sp>
        <p:nvSpPr>
          <p:cNvPr id="218" name="Shape 185"/>
          <p:cNvSpPr/>
          <p:nvPr/>
        </p:nvSpPr>
        <p:spPr>
          <a:xfrm>
            <a:off x="8296275" y="12401178"/>
            <a:ext cx="247650" cy="247650"/>
          </a:xfrm>
          <a:prstGeom prst="ellipse">
            <a:avLst/>
          </a:prstGeom>
          <a:solidFill>
            <a:srgbClr val="4F5733"/>
          </a:solidFill>
          <a:ln/>
        </p:spPr>
      </p:sp>
      <p:sp>
        <p:nvSpPr>
          <p:cNvPr id="219" name="Text 186"/>
          <p:cNvSpPr/>
          <p:nvPr/>
        </p:nvSpPr>
        <p:spPr>
          <a:xfrm>
            <a:off x="8258175" y="12401178"/>
            <a:ext cx="3238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50" dirty="0"/>
          </a:p>
        </p:txBody>
      </p:sp>
      <p:sp>
        <p:nvSpPr>
          <p:cNvPr id="220" name="Text 187"/>
          <p:cNvSpPr/>
          <p:nvPr/>
        </p:nvSpPr>
        <p:spPr>
          <a:xfrm>
            <a:off x="8620125" y="12410703"/>
            <a:ext cx="7239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2C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稳定搬运</a:t>
            </a:r>
            <a:endParaRPr lang="en-US" sz="1275" dirty="0"/>
          </a:p>
        </p:txBody>
      </p:sp>
      <p:sp>
        <p:nvSpPr>
          <p:cNvPr id="221" name="Shape 188"/>
          <p:cNvSpPr/>
          <p:nvPr/>
        </p:nvSpPr>
        <p:spPr>
          <a:xfrm>
            <a:off x="8296275" y="12744078"/>
            <a:ext cx="3286125" cy="1143000"/>
          </a:xfrm>
          <a:prstGeom prst="roundRect">
            <a:avLst>
              <a:gd name="adj" fmla="val 6667"/>
            </a:avLst>
          </a:prstGeom>
          <a:solidFill>
            <a:srgbClr val="F6F3EA"/>
          </a:solidFill>
          <a:ln/>
        </p:spPr>
      </p:sp>
      <p:pic>
        <p:nvPicPr>
          <p:cNvPr id="222" name="Image 31" descr="preencoded.png">    </p:cNvPr>
          <p:cNvPicPr>
            <a:picLocks noChangeAspect="1"/>
          </p:cNvPicPr>
          <p:nvPr/>
        </p:nvPicPr>
        <p:blipFill>
          <a:blip r:embed="rId52"/>
          <a:srcRect l="0" r="0" t="34309" b="34309"/>
          <a:stretch/>
        </p:blipFill>
        <p:spPr>
          <a:xfrm>
            <a:off x="8296275" y="12744078"/>
            <a:ext cx="3286125" cy="1143000"/>
          </a:xfrm>
          <a:prstGeom prst="rect">
            <a:avLst/>
          </a:prstGeom>
        </p:spPr>
      </p:pic>
      <p:sp>
        <p:nvSpPr>
          <p:cNvPr id="223" name="Text 189"/>
          <p:cNvSpPr/>
          <p:nvPr/>
        </p:nvSpPr>
        <p:spPr>
          <a:xfrm>
            <a:off x="8296275" y="13982328"/>
            <a:ext cx="3384709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38" dirty="0">
                <a:solidFill>
                  <a:srgbClr val="5A5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保持抓取状态，安全搬运或悬持，应对颠簸与姿态变化不脱落。</a:t>
            </a:r>
            <a:endParaRPr lang="en-US" sz="938" dirty="0"/>
          </a:p>
        </p:txBody>
      </p:sp>
      <p:sp>
        <p:nvSpPr>
          <p:cNvPr id="224" name="Text 190"/>
          <p:cNvSpPr/>
          <p:nvPr/>
        </p:nvSpPr>
        <p:spPr>
          <a:xfrm>
            <a:off x="11677650" y="12267828"/>
            <a:ext cx="400050" cy="2243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7E8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225" name="Shape 191"/>
          <p:cNvSpPr/>
          <p:nvPr/>
        </p:nvSpPr>
        <p:spPr>
          <a:xfrm>
            <a:off x="12039600" y="12267828"/>
            <a:ext cx="3552825" cy="2205038"/>
          </a:xfrm>
          <a:prstGeom prst="roundRect">
            <a:avLst>
              <a:gd name="adj" fmla="val 3888"/>
            </a:avLst>
          </a:prstGeom>
          <a:solidFill>
            <a:srgbClr val="ECEADB"/>
          </a:solidFill>
          <a:ln/>
        </p:spPr>
      </p:sp>
      <p:sp>
        <p:nvSpPr>
          <p:cNvPr id="226" name="Shape 192"/>
          <p:cNvSpPr/>
          <p:nvPr/>
        </p:nvSpPr>
        <p:spPr>
          <a:xfrm>
            <a:off x="12172950" y="12401178"/>
            <a:ext cx="247650" cy="247650"/>
          </a:xfrm>
          <a:prstGeom prst="ellipse">
            <a:avLst/>
          </a:prstGeom>
          <a:solidFill>
            <a:srgbClr val="4F5733"/>
          </a:solidFill>
          <a:ln/>
        </p:spPr>
      </p:sp>
      <p:sp>
        <p:nvSpPr>
          <p:cNvPr id="227" name="Text 193"/>
          <p:cNvSpPr/>
          <p:nvPr/>
        </p:nvSpPr>
        <p:spPr>
          <a:xfrm>
            <a:off x="12134850" y="12401178"/>
            <a:ext cx="3238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50" dirty="0"/>
          </a:p>
        </p:txBody>
      </p:sp>
      <p:sp>
        <p:nvSpPr>
          <p:cNvPr id="228" name="Text 194"/>
          <p:cNvSpPr/>
          <p:nvPr/>
        </p:nvSpPr>
        <p:spPr>
          <a:xfrm>
            <a:off x="12496800" y="12410703"/>
            <a:ext cx="7239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2C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主动释放</a:t>
            </a:r>
            <a:endParaRPr lang="en-US" sz="1275" dirty="0"/>
          </a:p>
        </p:txBody>
      </p:sp>
      <p:sp>
        <p:nvSpPr>
          <p:cNvPr id="229" name="Shape 195"/>
          <p:cNvSpPr/>
          <p:nvPr/>
        </p:nvSpPr>
        <p:spPr>
          <a:xfrm>
            <a:off x="12172950" y="12744078"/>
            <a:ext cx="3286125" cy="1143000"/>
          </a:xfrm>
          <a:prstGeom prst="roundRect">
            <a:avLst>
              <a:gd name="adj" fmla="val 6667"/>
            </a:avLst>
          </a:prstGeom>
          <a:solidFill>
            <a:srgbClr val="F6F3EA"/>
          </a:solidFill>
          <a:ln/>
        </p:spPr>
      </p:sp>
      <p:pic>
        <p:nvPicPr>
          <p:cNvPr id="230" name="Image 32" descr="preencoded.png">    </p:cNvPr>
          <p:cNvPicPr>
            <a:picLocks noChangeAspect="1"/>
          </p:cNvPicPr>
          <p:nvPr/>
        </p:nvPicPr>
        <p:blipFill>
          <a:blip r:embed="rId53"/>
          <a:srcRect l="0" r="0" t="34000" b="34000"/>
          <a:stretch/>
        </p:blipFill>
        <p:spPr>
          <a:xfrm>
            <a:off x="12172950" y="12744078"/>
            <a:ext cx="3286125" cy="1143000"/>
          </a:xfrm>
          <a:prstGeom prst="rect">
            <a:avLst/>
          </a:prstGeom>
        </p:spPr>
      </p:pic>
      <p:sp>
        <p:nvSpPr>
          <p:cNvPr id="231" name="Text 196"/>
          <p:cNvSpPr/>
          <p:nvPr/>
        </p:nvSpPr>
        <p:spPr>
          <a:xfrm>
            <a:off x="12172950" y="13982328"/>
            <a:ext cx="3614738" cy="216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38" dirty="0">
                <a:solidFill>
                  <a:srgbClr val="5A5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向内推动指体或驱动松开，微钩脱离物体，顺畅释放并退出。</a:t>
            </a:r>
            <a:endParaRPr lang="en-US" sz="938" dirty="0"/>
          </a:p>
        </p:txBody>
      </p:sp>
      <p:sp>
        <p:nvSpPr>
          <p:cNvPr id="232" name="Shape 197"/>
          <p:cNvSpPr/>
          <p:nvPr/>
        </p:nvSpPr>
        <p:spPr>
          <a:xfrm>
            <a:off x="247650" y="14672890"/>
            <a:ext cx="7025729" cy="2957513"/>
          </a:xfrm>
          <a:prstGeom prst="roundRect">
            <a:avLst>
              <a:gd name="adj" fmla="val 2899"/>
            </a:avLst>
          </a:prstGeom>
          <a:solidFill>
            <a:srgbClr val="F6F3EA"/>
          </a:solidFill>
          <a:ln w="9525">
            <a:solidFill>
              <a:srgbClr val="DDD6C4"/>
            </a:solidFill>
            <a:prstDash val="solid"/>
          </a:ln>
        </p:spPr>
      </p:sp>
      <p:sp>
        <p:nvSpPr>
          <p:cNvPr id="233" name="Shape 198"/>
          <p:cNvSpPr/>
          <p:nvPr/>
        </p:nvSpPr>
        <p:spPr>
          <a:xfrm>
            <a:off x="409575" y="15182478"/>
            <a:ext cx="6701879" cy="9525"/>
          </a:xfrm>
          <a:prstGeom prst="rect">
            <a:avLst/>
          </a:prstGeom>
          <a:solidFill>
            <a:srgbClr val="E3DDCC"/>
          </a:solidFill>
          <a:ln/>
        </p:spPr>
      </p:sp>
      <p:sp>
        <p:nvSpPr>
          <p:cNvPr id="234" name="Text 199"/>
          <p:cNvSpPr/>
          <p:nvPr/>
        </p:nvSpPr>
        <p:spPr>
          <a:xfrm>
            <a:off x="409575" y="14811003"/>
            <a:ext cx="26684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B73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</a:t>
            </a:r>
            <a:endParaRPr lang="en-US" sz="1800" dirty="0"/>
          </a:p>
        </p:txBody>
      </p:sp>
      <p:sp>
        <p:nvSpPr>
          <p:cNvPr id="235" name="Text 200"/>
          <p:cNvSpPr/>
          <p:nvPr/>
        </p:nvSpPr>
        <p:spPr>
          <a:xfrm>
            <a:off x="685949" y="14777665"/>
            <a:ext cx="121920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最终效果图</a:t>
            </a:r>
            <a:endParaRPr lang="en-US" sz="1800" dirty="0"/>
          </a:p>
        </p:txBody>
      </p:sp>
      <p:sp>
        <p:nvSpPr>
          <p:cNvPr id="236" name="Text 201"/>
          <p:cNvSpPr/>
          <p:nvPr/>
        </p:nvSpPr>
        <p:spPr>
          <a:xfrm>
            <a:off x="1914674" y="14906253"/>
            <a:ext cx="1180654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98" kern="0" dirty="0">
                <a:solidFill>
                  <a:srgbClr val="9A9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FINAL EFFECT</a:t>
            </a:r>
            <a:endParaRPr lang="en-US" sz="975" dirty="0"/>
          </a:p>
        </p:txBody>
      </p:sp>
      <p:sp>
        <p:nvSpPr>
          <p:cNvPr id="237" name="Shape 202"/>
          <p:cNvSpPr/>
          <p:nvPr/>
        </p:nvSpPr>
        <p:spPr>
          <a:xfrm>
            <a:off x="409575" y="15325353"/>
            <a:ext cx="323850" cy="323850"/>
          </a:xfrm>
          <a:prstGeom prst="ellipse">
            <a:avLst/>
          </a:prstGeom>
          <a:ln w="14288">
            <a:solidFill>
              <a:srgbClr val="7C8458"/>
            </a:solidFill>
            <a:prstDash val="solid"/>
          </a:ln>
        </p:spPr>
      </p:sp>
      <p:pic>
        <p:nvPicPr>
          <p:cNvPr id="238" name="Image 33" descr="preencoded.png">    </p:cNvPr>
          <p:cNvPicPr>
            <a:picLocks noChangeAspect="1"/>
          </p:cNvPicPr>
          <p:nvPr/>
        </p:nvPicPr>
        <p:blipFill>
          <a:blip r:embed="rId54">
            <a:extLs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485775" y="15401553"/>
            <a:ext cx="171450" cy="171450"/>
          </a:xfrm>
          <a:prstGeom prst="rect">
            <a:avLst/>
          </a:prstGeom>
        </p:spPr>
      </p:pic>
      <p:sp>
        <p:nvSpPr>
          <p:cNvPr id="239" name="Text 203"/>
          <p:cNvSpPr/>
          <p:nvPr/>
        </p:nvSpPr>
        <p:spPr>
          <a:xfrm>
            <a:off x="819150" y="15389647"/>
            <a:ext cx="766763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88" b="1" dirty="0">
                <a:solidFill>
                  <a:srgbClr val="2C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方向性固持</a:t>
            </a:r>
            <a:endParaRPr lang="en-US" sz="1088" dirty="0"/>
          </a:p>
        </p:txBody>
      </p:sp>
      <p:sp>
        <p:nvSpPr>
          <p:cNvPr id="240" name="Shape 204"/>
          <p:cNvSpPr/>
          <p:nvPr/>
        </p:nvSpPr>
        <p:spPr>
          <a:xfrm>
            <a:off x="409575" y="15773028"/>
            <a:ext cx="323850" cy="323850"/>
          </a:xfrm>
          <a:prstGeom prst="ellipse">
            <a:avLst/>
          </a:prstGeom>
          <a:ln w="14288">
            <a:solidFill>
              <a:srgbClr val="7C8458"/>
            </a:solidFill>
            <a:prstDash val="solid"/>
          </a:ln>
        </p:spPr>
      </p:sp>
      <p:pic>
        <p:nvPicPr>
          <p:cNvPr id="241" name="Image 34" descr="preencoded.png">    </p:cNvPr>
          <p:cNvPicPr>
            <a:picLocks noChangeAspect="1"/>
          </p:cNvPicPr>
          <p:nvPr/>
        </p:nvPicPr>
        <p:blipFill>
          <a:blip r:embed="rId56">
            <a:extLs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485775" y="15849228"/>
            <a:ext cx="171450" cy="171450"/>
          </a:xfrm>
          <a:prstGeom prst="rect">
            <a:avLst/>
          </a:prstGeom>
        </p:spPr>
      </p:pic>
      <p:sp>
        <p:nvSpPr>
          <p:cNvPr id="242" name="Text 205"/>
          <p:cNvSpPr/>
          <p:nvPr/>
        </p:nvSpPr>
        <p:spPr>
          <a:xfrm>
            <a:off x="819150" y="15837322"/>
            <a:ext cx="766763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88" b="1" dirty="0">
                <a:solidFill>
                  <a:srgbClr val="2C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低损伤抓取</a:t>
            </a:r>
            <a:endParaRPr lang="en-US" sz="1088" dirty="0"/>
          </a:p>
        </p:txBody>
      </p:sp>
      <p:sp>
        <p:nvSpPr>
          <p:cNvPr id="243" name="Shape 206"/>
          <p:cNvSpPr/>
          <p:nvPr/>
        </p:nvSpPr>
        <p:spPr>
          <a:xfrm>
            <a:off x="409575" y="16220703"/>
            <a:ext cx="323850" cy="323850"/>
          </a:xfrm>
          <a:prstGeom prst="ellipse">
            <a:avLst/>
          </a:prstGeom>
          <a:ln w="14288">
            <a:solidFill>
              <a:srgbClr val="7C8458"/>
            </a:solidFill>
            <a:prstDash val="solid"/>
          </a:ln>
        </p:spPr>
      </p:sp>
      <p:pic>
        <p:nvPicPr>
          <p:cNvPr id="244" name="Image 35" descr="preencoded.png">    </p:cNvPr>
          <p:cNvPicPr>
            <a:picLocks noChangeAspect="1"/>
          </p:cNvPicPr>
          <p:nvPr/>
        </p:nvPicPr>
        <p:blipFill>
          <a:blip r:embed="rId58"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485775" y="16296903"/>
            <a:ext cx="171450" cy="171450"/>
          </a:xfrm>
          <a:prstGeom prst="rect">
            <a:avLst/>
          </a:prstGeom>
        </p:spPr>
      </p:pic>
      <p:sp>
        <p:nvSpPr>
          <p:cNvPr id="245" name="Text 207"/>
          <p:cNvSpPr/>
          <p:nvPr/>
        </p:nvSpPr>
        <p:spPr>
          <a:xfrm>
            <a:off x="819150" y="16284997"/>
            <a:ext cx="766763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88" b="1" dirty="0">
                <a:solidFill>
                  <a:srgbClr val="2C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自适应包覆</a:t>
            </a:r>
            <a:endParaRPr lang="en-US" sz="1088" dirty="0"/>
          </a:p>
        </p:txBody>
      </p:sp>
      <p:sp>
        <p:nvSpPr>
          <p:cNvPr id="246" name="Shape 208"/>
          <p:cNvSpPr/>
          <p:nvPr/>
        </p:nvSpPr>
        <p:spPr>
          <a:xfrm>
            <a:off x="409575" y="16668378"/>
            <a:ext cx="323850" cy="323850"/>
          </a:xfrm>
          <a:prstGeom prst="ellipse">
            <a:avLst/>
          </a:prstGeom>
          <a:ln w="14288">
            <a:solidFill>
              <a:srgbClr val="7C8458"/>
            </a:solidFill>
            <a:prstDash val="solid"/>
          </a:ln>
        </p:spPr>
      </p:sp>
      <p:pic>
        <p:nvPicPr>
          <p:cNvPr id="247" name="Image 36" descr="preencoded.png">    </p:cNvPr>
          <p:cNvPicPr>
            <a:picLocks noChangeAspect="1"/>
          </p:cNvPicPr>
          <p:nvPr/>
        </p:nvPicPr>
        <p:blipFill>
          <a:blip r:embed="rId60"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  <a:stretch>
            <a:fillRect/>
          </a:stretch>
        </p:blipFill>
        <p:spPr>
          <a:xfrm>
            <a:off x="485775" y="16744578"/>
            <a:ext cx="171450" cy="171450"/>
          </a:xfrm>
          <a:prstGeom prst="rect">
            <a:avLst/>
          </a:prstGeom>
        </p:spPr>
      </p:pic>
      <p:sp>
        <p:nvSpPr>
          <p:cNvPr id="248" name="Text 209"/>
          <p:cNvSpPr/>
          <p:nvPr/>
        </p:nvSpPr>
        <p:spPr>
          <a:xfrm>
            <a:off x="819150" y="16732672"/>
            <a:ext cx="628650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88" b="1" dirty="0">
                <a:solidFill>
                  <a:srgbClr val="2C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稳定可靠</a:t>
            </a:r>
            <a:endParaRPr lang="en-US" sz="1088" dirty="0"/>
          </a:p>
        </p:txBody>
      </p:sp>
      <p:sp>
        <p:nvSpPr>
          <p:cNvPr id="249" name="Shape 210"/>
          <p:cNvSpPr/>
          <p:nvPr/>
        </p:nvSpPr>
        <p:spPr>
          <a:xfrm>
            <a:off x="409575" y="17116053"/>
            <a:ext cx="323850" cy="323850"/>
          </a:xfrm>
          <a:prstGeom prst="ellipse">
            <a:avLst/>
          </a:prstGeom>
          <a:ln w="14288">
            <a:solidFill>
              <a:srgbClr val="7C8458"/>
            </a:solidFill>
            <a:prstDash val="solid"/>
          </a:ln>
        </p:spPr>
      </p:sp>
      <p:pic>
        <p:nvPicPr>
          <p:cNvPr id="250" name="Image 37" descr="preencoded.png">    </p:cNvPr>
          <p:cNvPicPr>
            <a:picLocks noChangeAspect="1"/>
          </p:cNvPicPr>
          <p:nvPr/>
        </p:nvPicPr>
        <p:blipFill>
          <a:blip r:embed="rId62"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485775" y="17192253"/>
            <a:ext cx="171450" cy="171450"/>
          </a:xfrm>
          <a:prstGeom prst="rect">
            <a:avLst/>
          </a:prstGeom>
        </p:spPr>
      </p:pic>
      <p:sp>
        <p:nvSpPr>
          <p:cNvPr id="251" name="Text 211"/>
          <p:cNvSpPr/>
          <p:nvPr/>
        </p:nvSpPr>
        <p:spPr>
          <a:xfrm>
            <a:off x="819150" y="17180347"/>
            <a:ext cx="766763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88" b="1" dirty="0">
                <a:solidFill>
                  <a:srgbClr val="2C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顺向可释放</a:t>
            </a:r>
            <a:endParaRPr lang="en-US" sz="1088" dirty="0"/>
          </a:p>
        </p:txBody>
      </p:sp>
      <p:sp>
        <p:nvSpPr>
          <p:cNvPr id="252" name="Shape 212"/>
          <p:cNvSpPr/>
          <p:nvPr/>
        </p:nvSpPr>
        <p:spPr>
          <a:xfrm>
            <a:off x="2466975" y="15630153"/>
            <a:ext cx="3063329" cy="1504950"/>
          </a:xfrm>
          <a:prstGeom prst="roundRect">
            <a:avLst>
              <a:gd name="adj" fmla="val 5696"/>
            </a:avLst>
          </a:prstGeom>
          <a:solidFill>
            <a:srgbClr val="F0ECE2"/>
          </a:solidFill>
          <a:ln/>
        </p:spPr>
      </p:sp>
      <p:pic>
        <p:nvPicPr>
          <p:cNvPr id="253" name="Image 38" descr="preencoded.png">    </p:cNvPr>
          <p:cNvPicPr>
            <a:picLocks noChangeAspect="1"/>
          </p:cNvPicPr>
          <p:nvPr/>
        </p:nvPicPr>
        <p:blipFill>
          <a:blip r:embed="rId64"/>
          <a:srcRect l="-64812" r="-64812" t="0" b="0"/>
          <a:stretch/>
        </p:blipFill>
        <p:spPr>
          <a:xfrm>
            <a:off x="2466975" y="15630153"/>
            <a:ext cx="3063329" cy="1504950"/>
          </a:xfrm>
          <a:prstGeom prst="rect">
            <a:avLst/>
          </a:prstGeom>
        </p:spPr>
      </p:pic>
      <p:sp>
        <p:nvSpPr>
          <p:cNvPr id="254" name="Shape 213"/>
          <p:cNvSpPr/>
          <p:nvPr/>
        </p:nvSpPr>
        <p:spPr>
          <a:xfrm>
            <a:off x="5682704" y="15630153"/>
            <a:ext cx="1428750" cy="1504950"/>
          </a:xfrm>
          <a:prstGeom prst="roundRect">
            <a:avLst>
              <a:gd name="adj" fmla="val 6000"/>
            </a:avLst>
          </a:prstGeom>
          <a:solidFill>
            <a:srgbClr val="F0ECE2"/>
          </a:solidFill>
          <a:ln/>
        </p:spPr>
      </p:sp>
      <p:pic>
        <p:nvPicPr>
          <p:cNvPr id="255" name="Image 39" descr="preencoded.png">    </p:cNvPr>
          <p:cNvPicPr>
            <a:picLocks noChangeAspect="1"/>
          </p:cNvPicPr>
          <p:nvPr/>
        </p:nvPicPr>
        <p:blipFill>
          <a:blip r:embed="rId65"/>
          <a:srcRect l="0" r="0" t="0" b="0"/>
          <a:stretch/>
        </p:blipFill>
        <p:spPr>
          <a:xfrm>
            <a:off x="6074569" y="15630153"/>
            <a:ext cx="644947" cy="1504876"/>
          </a:xfrm>
          <a:prstGeom prst="rect">
            <a:avLst/>
          </a:prstGeom>
        </p:spPr>
      </p:pic>
      <p:sp>
        <p:nvSpPr>
          <p:cNvPr id="256" name="Shape 214"/>
          <p:cNvSpPr/>
          <p:nvPr/>
        </p:nvSpPr>
        <p:spPr>
          <a:xfrm>
            <a:off x="7463879" y="14672890"/>
            <a:ext cx="8290471" cy="2957513"/>
          </a:xfrm>
          <a:prstGeom prst="roundRect">
            <a:avLst>
              <a:gd name="adj" fmla="val 2899"/>
            </a:avLst>
          </a:prstGeom>
          <a:solidFill>
            <a:srgbClr val="F6F3EA"/>
          </a:solidFill>
          <a:ln w="9525">
            <a:solidFill>
              <a:srgbClr val="DDD6C4"/>
            </a:solidFill>
            <a:prstDash val="solid"/>
          </a:ln>
        </p:spPr>
      </p:sp>
      <p:sp>
        <p:nvSpPr>
          <p:cNvPr id="257" name="Shape 215"/>
          <p:cNvSpPr/>
          <p:nvPr/>
        </p:nvSpPr>
        <p:spPr>
          <a:xfrm>
            <a:off x="7625804" y="15182478"/>
            <a:ext cx="7966621" cy="9525"/>
          </a:xfrm>
          <a:prstGeom prst="rect">
            <a:avLst/>
          </a:prstGeom>
          <a:solidFill>
            <a:srgbClr val="E3DDCC"/>
          </a:solidFill>
          <a:ln/>
        </p:spPr>
      </p:sp>
      <p:sp>
        <p:nvSpPr>
          <p:cNvPr id="258" name="Text 216"/>
          <p:cNvSpPr/>
          <p:nvPr/>
        </p:nvSpPr>
        <p:spPr>
          <a:xfrm>
            <a:off x="7625804" y="14811003"/>
            <a:ext cx="26684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B73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</a:t>
            </a:r>
            <a:endParaRPr lang="en-US" sz="1800" dirty="0"/>
          </a:p>
        </p:txBody>
      </p:sp>
      <p:sp>
        <p:nvSpPr>
          <p:cNvPr id="259" name="Text 217"/>
          <p:cNvSpPr/>
          <p:nvPr/>
        </p:nvSpPr>
        <p:spPr>
          <a:xfrm>
            <a:off x="7902178" y="14777665"/>
            <a:ext cx="99060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应用场景</a:t>
            </a:r>
            <a:endParaRPr lang="en-US" sz="1800" dirty="0"/>
          </a:p>
        </p:txBody>
      </p:sp>
      <p:sp>
        <p:nvSpPr>
          <p:cNvPr id="260" name="Text 218"/>
          <p:cNvSpPr/>
          <p:nvPr/>
        </p:nvSpPr>
        <p:spPr>
          <a:xfrm>
            <a:off x="8902303" y="14906253"/>
            <a:ext cx="2112199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98" kern="0" dirty="0">
                <a:solidFill>
                  <a:srgbClr val="9A9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APPLICATION SCENARIOS</a:t>
            </a:r>
            <a:endParaRPr lang="en-US" sz="975" dirty="0"/>
          </a:p>
        </p:txBody>
      </p:sp>
      <p:sp>
        <p:nvSpPr>
          <p:cNvPr id="261" name="Shape 219"/>
          <p:cNvSpPr/>
          <p:nvPr/>
        </p:nvSpPr>
        <p:spPr>
          <a:xfrm>
            <a:off x="7625804" y="15325353"/>
            <a:ext cx="2572941" cy="800100"/>
          </a:xfrm>
          <a:prstGeom prst="roundRect">
            <a:avLst>
              <a:gd name="adj" fmla="val 9524"/>
            </a:avLst>
          </a:prstGeom>
          <a:ln w="9525">
            <a:solidFill>
              <a:srgbClr val="E0D9C7"/>
            </a:solidFill>
            <a:prstDash val="solid"/>
          </a:ln>
        </p:spPr>
      </p:sp>
      <p:pic>
        <p:nvPicPr>
          <p:cNvPr id="262" name="Image 40" descr="preencoded.png">    </p:cNvPr>
          <p:cNvPicPr>
            <a:picLocks noChangeAspect="1"/>
          </p:cNvPicPr>
          <p:nvPr/>
        </p:nvPicPr>
        <p:blipFill>
          <a:blip r:embed="rId66"/>
          <a:srcRect l="0" r="0" t="62456" b="8517"/>
          <a:stretch/>
        </p:blipFill>
        <p:spPr>
          <a:xfrm>
            <a:off x="7635329" y="15334878"/>
            <a:ext cx="2553891" cy="781050"/>
          </a:xfrm>
          <a:prstGeom prst="rect">
            <a:avLst/>
          </a:prstGeom>
        </p:spPr>
      </p:pic>
      <p:sp>
        <p:nvSpPr>
          <p:cNvPr id="263" name="Text 220"/>
          <p:cNvSpPr/>
          <p:nvPr/>
        </p:nvSpPr>
        <p:spPr>
          <a:xfrm>
            <a:off x="7497157" y="16182603"/>
            <a:ext cx="283023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2C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易滑物体抓取</a:t>
            </a:r>
            <a:endParaRPr lang="en-US" sz="1013" dirty="0"/>
          </a:p>
        </p:txBody>
      </p:sp>
      <p:sp>
        <p:nvSpPr>
          <p:cNvPr id="264" name="Shape 221"/>
          <p:cNvSpPr/>
          <p:nvPr/>
        </p:nvSpPr>
        <p:spPr>
          <a:xfrm>
            <a:off x="10322570" y="15325353"/>
            <a:ext cx="2573015" cy="800100"/>
          </a:xfrm>
          <a:prstGeom prst="roundRect">
            <a:avLst>
              <a:gd name="adj" fmla="val 9524"/>
            </a:avLst>
          </a:prstGeom>
          <a:ln w="9525">
            <a:solidFill>
              <a:srgbClr val="E0D9C7"/>
            </a:solidFill>
            <a:prstDash val="solid"/>
          </a:ln>
        </p:spPr>
      </p:sp>
      <p:pic>
        <p:nvPicPr>
          <p:cNvPr id="265" name="Image 41" descr="preencoded.png">    </p:cNvPr>
          <p:cNvPicPr>
            <a:picLocks noChangeAspect="1"/>
          </p:cNvPicPr>
          <p:nvPr/>
        </p:nvPicPr>
        <p:blipFill>
          <a:blip r:embed="rId67"/>
          <a:srcRect l="0" r="0" t="62456" b="8517"/>
          <a:stretch/>
        </p:blipFill>
        <p:spPr>
          <a:xfrm>
            <a:off x="10332095" y="15334878"/>
            <a:ext cx="2553965" cy="781050"/>
          </a:xfrm>
          <a:prstGeom prst="rect">
            <a:avLst/>
          </a:prstGeom>
        </p:spPr>
      </p:pic>
      <p:sp>
        <p:nvSpPr>
          <p:cNvPr id="266" name="Text 222"/>
          <p:cNvSpPr/>
          <p:nvPr/>
        </p:nvSpPr>
        <p:spPr>
          <a:xfrm>
            <a:off x="10193919" y="16182603"/>
            <a:ext cx="2830317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2C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脆弱物体抓取</a:t>
            </a:r>
            <a:endParaRPr lang="en-US" sz="1013" dirty="0"/>
          </a:p>
        </p:txBody>
      </p:sp>
      <p:sp>
        <p:nvSpPr>
          <p:cNvPr id="267" name="Shape 223"/>
          <p:cNvSpPr/>
          <p:nvPr/>
        </p:nvSpPr>
        <p:spPr>
          <a:xfrm>
            <a:off x="13019410" y="15325353"/>
            <a:ext cx="2573015" cy="800100"/>
          </a:xfrm>
          <a:prstGeom prst="roundRect">
            <a:avLst>
              <a:gd name="adj" fmla="val 9524"/>
            </a:avLst>
          </a:prstGeom>
          <a:ln w="9525">
            <a:solidFill>
              <a:srgbClr val="E0D9C7"/>
            </a:solidFill>
            <a:prstDash val="solid"/>
          </a:ln>
        </p:spPr>
      </p:sp>
      <p:pic>
        <p:nvPicPr>
          <p:cNvPr id="268" name="Image 42" descr="preencoded.png">    </p:cNvPr>
          <p:cNvPicPr>
            <a:picLocks noChangeAspect="1"/>
          </p:cNvPicPr>
          <p:nvPr/>
        </p:nvPicPr>
        <p:blipFill>
          <a:blip r:embed="rId68"/>
          <a:srcRect l="0" r="0" t="61316" b="8361"/>
          <a:stretch/>
        </p:blipFill>
        <p:spPr>
          <a:xfrm>
            <a:off x="13028935" y="15334878"/>
            <a:ext cx="2553965" cy="781050"/>
          </a:xfrm>
          <a:prstGeom prst="rect">
            <a:avLst/>
          </a:prstGeom>
        </p:spPr>
      </p:pic>
      <p:sp>
        <p:nvSpPr>
          <p:cNvPr id="269" name="Text 224"/>
          <p:cNvSpPr/>
          <p:nvPr/>
        </p:nvSpPr>
        <p:spPr>
          <a:xfrm>
            <a:off x="12890759" y="16182603"/>
            <a:ext cx="2830317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2C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不规则物体抓取</a:t>
            </a:r>
            <a:endParaRPr lang="en-US" sz="1013" dirty="0"/>
          </a:p>
        </p:txBody>
      </p:sp>
      <p:sp>
        <p:nvSpPr>
          <p:cNvPr id="270" name="Shape 225"/>
          <p:cNvSpPr/>
          <p:nvPr/>
        </p:nvSpPr>
        <p:spPr>
          <a:xfrm>
            <a:off x="7625804" y="16487403"/>
            <a:ext cx="2572941" cy="800100"/>
          </a:xfrm>
          <a:prstGeom prst="roundRect">
            <a:avLst>
              <a:gd name="adj" fmla="val 9524"/>
            </a:avLst>
          </a:prstGeom>
          <a:ln w="9525">
            <a:solidFill>
              <a:srgbClr val="E0D9C7"/>
            </a:solidFill>
            <a:prstDash val="solid"/>
          </a:ln>
        </p:spPr>
      </p:sp>
      <p:pic>
        <p:nvPicPr>
          <p:cNvPr id="271" name="Image 43" descr="preencoded.png">    </p:cNvPr>
          <p:cNvPicPr>
            <a:picLocks noChangeAspect="1"/>
          </p:cNvPicPr>
          <p:nvPr/>
        </p:nvPicPr>
        <p:blipFill>
          <a:blip r:embed="rId69"/>
          <a:srcRect l="0" r="0" t="62456" b="8517"/>
          <a:stretch/>
        </p:blipFill>
        <p:spPr>
          <a:xfrm>
            <a:off x="7635329" y="16496928"/>
            <a:ext cx="2553891" cy="781050"/>
          </a:xfrm>
          <a:prstGeom prst="rect">
            <a:avLst/>
          </a:prstGeom>
        </p:spPr>
      </p:pic>
      <p:sp>
        <p:nvSpPr>
          <p:cNvPr id="272" name="Text 226"/>
          <p:cNvSpPr/>
          <p:nvPr/>
        </p:nvSpPr>
        <p:spPr>
          <a:xfrm>
            <a:off x="7497157" y="17344653"/>
            <a:ext cx="283023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2C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食品分拣</a:t>
            </a:r>
            <a:endParaRPr lang="en-US" sz="1013" dirty="0"/>
          </a:p>
        </p:txBody>
      </p:sp>
      <p:sp>
        <p:nvSpPr>
          <p:cNvPr id="273" name="Shape 227"/>
          <p:cNvSpPr/>
          <p:nvPr/>
        </p:nvSpPr>
        <p:spPr>
          <a:xfrm>
            <a:off x="10322570" y="16487403"/>
            <a:ext cx="2573015" cy="800100"/>
          </a:xfrm>
          <a:prstGeom prst="roundRect">
            <a:avLst>
              <a:gd name="adj" fmla="val 9524"/>
            </a:avLst>
          </a:prstGeom>
          <a:ln w="9525">
            <a:solidFill>
              <a:srgbClr val="E0D9C7"/>
            </a:solidFill>
            <a:prstDash val="solid"/>
          </a:ln>
        </p:spPr>
      </p:sp>
      <p:pic>
        <p:nvPicPr>
          <p:cNvPr id="274" name="Image 44" descr="preencoded.png">    </p:cNvPr>
          <p:cNvPicPr>
            <a:picLocks noChangeAspect="1"/>
          </p:cNvPicPr>
          <p:nvPr/>
        </p:nvPicPr>
        <p:blipFill>
          <a:blip r:embed="rId70"/>
          <a:srcRect l="0" r="0" t="62456" b="8517"/>
          <a:stretch/>
        </p:blipFill>
        <p:spPr>
          <a:xfrm>
            <a:off x="10332095" y="16496928"/>
            <a:ext cx="2553965" cy="781050"/>
          </a:xfrm>
          <a:prstGeom prst="rect">
            <a:avLst/>
          </a:prstGeom>
        </p:spPr>
      </p:pic>
      <p:sp>
        <p:nvSpPr>
          <p:cNvPr id="275" name="Text 228"/>
          <p:cNvSpPr/>
          <p:nvPr/>
        </p:nvSpPr>
        <p:spPr>
          <a:xfrm>
            <a:off x="10193919" y="17344653"/>
            <a:ext cx="2830317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2C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实验室自动化</a:t>
            </a:r>
            <a:endParaRPr lang="en-US" sz="1013" dirty="0"/>
          </a:p>
        </p:txBody>
      </p:sp>
      <p:sp>
        <p:nvSpPr>
          <p:cNvPr id="276" name="Shape 229"/>
          <p:cNvSpPr/>
          <p:nvPr/>
        </p:nvSpPr>
        <p:spPr>
          <a:xfrm>
            <a:off x="13019410" y="16487403"/>
            <a:ext cx="2573015" cy="800100"/>
          </a:xfrm>
          <a:prstGeom prst="roundRect">
            <a:avLst>
              <a:gd name="adj" fmla="val 9524"/>
            </a:avLst>
          </a:prstGeom>
          <a:ln w="9525">
            <a:solidFill>
              <a:srgbClr val="E0D9C7"/>
            </a:solidFill>
            <a:prstDash val="solid"/>
          </a:ln>
        </p:spPr>
      </p:sp>
      <p:pic>
        <p:nvPicPr>
          <p:cNvPr id="277" name="Image 45" descr="preencoded.png">    </p:cNvPr>
          <p:cNvPicPr>
            <a:picLocks noChangeAspect="1"/>
          </p:cNvPicPr>
          <p:nvPr/>
        </p:nvPicPr>
        <p:blipFill>
          <a:blip r:embed="rId71"/>
          <a:srcRect l="0" r="0" t="61316" b="8361"/>
          <a:stretch/>
        </p:blipFill>
        <p:spPr>
          <a:xfrm>
            <a:off x="13028935" y="16496928"/>
            <a:ext cx="2553965" cy="781050"/>
          </a:xfrm>
          <a:prstGeom prst="rect">
            <a:avLst/>
          </a:prstGeom>
        </p:spPr>
      </p:pic>
      <p:sp>
        <p:nvSpPr>
          <p:cNvPr id="278" name="Text 230"/>
          <p:cNvSpPr/>
          <p:nvPr/>
        </p:nvSpPr>
        <p:spPr>
          <a:xfrm>
            <a:off x="12890759" y="17344653"/>
            <a:ext cx="2830317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2C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精密装配</a:t>
            </a:r>
            <a:endParaRPr lang="en-US" sz="1013" dirty="0"/>
          </a:p>
        </p:txBody>
      </p:sp>
      <p:sp>
        <p:nvSpPr>
          <p:cNvPr id="279" name="Shape 231"/>
          <p:cNvSpPr/>
          <p:nvPr/>
        </p:nvSpPr>
        <p:spPr>
          <a:xfrm>
            <a:off x="0" y="17820903"/>
            <a:ext cx="16002000" cy="1047750"/>
          </a:xfrm>
          <a:prstGeom prst="rect">
            <a:avLst/>
          </a:prstGeom>
          <a:solidFill>
            <a:srgbClr val="3F4528"/>
          </a:solidFill>
          <a:ln/>
        </p:spPr>
      </p:sp>
      <p:sp>
        <p:nvSpPr>
          <p:cNvPr id="280" name="Text 232"/>
          <p:cNvSpPr/>
          <p:nvPr/>
        </p:nvSpPr>
        <p:spPr>
          <a:xfrm>
            <a:off x="438150" y="18085743"/>
            <a:ext cx="9614535" cy="5561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200" dirty="0">
                <a:solidFill>
                  <a:srgbClr val="DCD9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本设计以蟒蛇内弯牙齿的单向固持机制为生物原型，构建方向性微钩阵列与柔性结构相结合的仿生抓手，实现低损伤、高稳定、可逆时的智能抓取，面向多领域应用与未来智能制造需求。</a:t>
            </a:r>
            <a:endParaRPr lang="en-US" sz="1200" dirty="0"/>
          </a:p>
        </p:txBody>
      </p:sp>
      <p:sp>
        <p:nvSpPr>
          <p:cNvPr id="281" name="Shape 233"/>
          <p:cNvSpPr/>
          <p:nvPr/>
        </p:nvSpPr>
        <p:spPr>
          <a:xfrm>
            <a:off x="12496800" y="18030453"/>
            <a:ext cx="438150" cy="438150"/>
          </a:xfrm>
          <a:prstGeom prst="ellipse">
            <a:avLst/>
          </a:prstGeom>
          <a:ln w="14288">
            <a:solidFill>
              <a:srgbClr val="9AA07E"/>
            </a:solidFill>
            <a:prstDash val="solid"/>
          </a:ln>
        </p:spPr>
      </p:sp>
      <p:pic>
        <p:nvPicPr>
          <p:cNvPr id="282" name="Image 46" descr="preencoded.png">    </p:cNvPr>
          <p:cNvPicPr>
            <a:picLocks noChangeAspect="1"/>
          </p:cNvPicPr>
          <p:nvPr/>
        </p:nvPicPr>
        <p:blipFill>
          <a:blip r:embed="rId72">
            <a:extLst>
              <a:ext uri="{96DAC541-7B7A-43D3-8B79-37D633B846F1}">
                <asvg:svgBlip xmlns:asvg="http://schemas.microsoft.com/office/drawing/2016/SVG/main" r:embed="rId73"/>
              </a:ext>
            </a:extLst>
          </a:blip>
          <a:stretch>
            <a:fillRect/>
          </a:stretch>
        </p:blipFill>
        <p:spPr>
          <a:xfrm>
            <a:off x="12601575" y="18135228"/>
            <a:ext cx="228600" cy="228600"/>
          </a:xfrm>
          <a:prstGeom prst="rect">
            <a:avLst/>
          </a:prstGeom>
        </p:spPr>
      </p:pic>
      <p:sp>
        <p:nvSpPr>
          <p:cNvPr id="283" name="Text 234"/>
          <p:cNvSpPr/>
          <p:nvPr/>
        </p:nvSpPr>
        <p:spPr>
          <a:xfrm>
            <a:off x="12458700" y="18506703"/>
            <a:ext cx="51435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dirty="0">
                <a:solidFill>
                  <a:srgbClr val="CFD2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仿生启发</a:t>
            </a:r>
            <a:endParaRPr lang="en-US" sz="825" dirty="0"/>
          </a:p>
        </p:txBody>
      </p:sp>
      <p:sp>
        <p:nvSpPr>
          <p:cNvPr id="284" name="Text 235"/>
          <p:cNvSpPr/>
          <p:nvPr/>
        </p:nvSpPr>
        <p:spPr>
          <a:xfrm>
            <a:off x="13068300" y="18220953"/>
            <a:ext cx="2476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8A9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50" dirty="0"/>
          </a:p>
        </p:txBody>
      </p:sp>
      <p:sp>
        <p:nvSpPr>
          <p:cNvPr id="285" name="Shape 236"/>
          <p:cNvSpPr/>
          <p:nvPr/>
        </p:nvSpPr>
        <p:spPr>
          <a:xfrm>
            <a:off x="13373100" y="18030453"/>
            <a:ext cx="438150" cy="438150"/>
          </a:xfrm>
          <a:prstGeom prst="ellipse">
            <a:avLst/>
          </a:prstGeom>
          <a:ln w="14288">
            <a:solidFill>
              <a:srgbClr val="9AA07E"/>
            </a:solidFill>
            <a:prstDash val="solid"/>
          </a:ln>
        </p:spPr>
      </p:sp>
      <p:pic>
        <p:nvPicPr>
          <p:cNvPr id="286" name="Image 47" descr="preencoded.png">    </p:cNvPr>
          <p:cNvPicPr>
            <a:picLocks noChangeAspect="1"/>
          </p:cNvPicPr>
          <p:nvPr/>
        </p:nvPicPr>
        <p:blipFill>
          <a:blip r:embed="rId74">
            <a:extLst>
              <a:ext uri="{96DAC541-7B7A-43D3-8B79-37D633B846F1}">
                <asvg:svgBlip xmlns:asvg="http://schemas.microsoft.com/office/drawing/2016/SVG/main" r:embed="rId75"/>
              </a:ext>
            </a:extLst>
          </a:blip>
          <a:stretch>
            <a:fillRect/>
          </a:stretch>
        </p:blipFill>
        <p:spPr>
          <a:xfrm>
            <a:off x="13477875" y="18135228"/>
            <a:ext cx="228600" cy="228600"/>
          </a:xfrm>
          <a:prstGeom prst="rect">
            <a:avLst/>
          </a:prstGeom>
        </p:spPr>
      </p:pic>
      <p:sp>
        <p:nvSpPr>
          <p:cNvPr id="287" name="Text 237"/>
          <p:cNvSpPr/>
          <p:nvPr/>
        </p:nvSpPr>
        <p:spPr>
          <a:xfrm>
            <a:off x="13335000" y="18506703"/>
            <a:ext cx="51435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dirty="0">
                <a:solidFill>
                  <a:srgbClr val="CFD2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轻柔安全</a:t>
            </a:r>
            <a:endParaRPr lang="en-US" sz="825" dirty="0"/>
          </a:p>
        </p:txBody>
      </p:sp>
      <p:sp>
        <p:nvSpPr>
          <p:cNvPr id="288" name="Text 238"/>
          <p:cNvSpPr/>
          <p:nvPr/>
        </p:nvSpPr>
        <p:spPr>
          <a:xfrm>
            <a:off x="13944600" y="18220953"/>
            <a:ext cx="2476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8A9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50" dirty="0"/>
          </a:p>
        </p:txBody>
      </p:sp>
      <p:sp>
        <p:nvSpPr>
          <p:cNvPr id="289" name="Shape 239"/>
          <p:cNvSpPr/>
          <p:nvPr/>
        </p:nvSpPr>
        <p:spPr>
          <a:xfrm>
            <a:off x="14249400" y="18030453"/>
            <a:ext cx="438150" cy="438150"/>
          </a:xfrm>
          <a:prstGeom prst="ellipse">
            <a:avLst/>
          </a:prstGeom>
          <a:ln w="14288">
            <a:solidFill>
              <a:srgbClr val="9AA07E"/>
            </a:solidFill>
            <a:prstDash val="solid"/>
          </a:ln>
        </p:spPr>
      </p:sp>
      <p:pic>
        <p:nvPicPr>
          <p:cNvPr id="290" name="Image 48" descr="preencoded.png">    </p:cNvPr>
          <p:cNvPicPr>
            <a:picLocks noChangeAspect="1"/>
          </p:cNvPicPr>
          <p:nvPr/>
        </p:nvPicPr>
        <p:blipFill>
          <a:blip r:embed="rId76">
            <a:extLst>
              <a:ext uri="{96DAC541-7B7A-43D3-8B79-37D633B846F1}">
                <asvg:svgBlip xmlns:asvg="http://schemas.microsoft.com/office/drawing/2016/SVG/main" r:embed="rId77"/>
              </a:ext>
            </a:extLst>
          </a:blip>
          <a:stretch>
            <a:fillRect/>
          </a:stretch>
        </p:blipFill>
        <p:spPr>
          <a:xfrm>
            <a:off x="14354175" y="18135228"/>
            <a:ext cx="228600" cy="228600"/>
          </a:xfrm>
          <a:prstGeom prst="rect">
            <a:avLst/>
          </a:prstGeom>
        </p:spPr>
      </p:pic>
      <p:sp>
        <p:nvSpPr>
          <p:cNvPr id="291" name="Text 240"/>
          <p:cNvSpPr/>
          <p:nvPr/>
        </p:nvSpPr>
        <p:spPr>
          <a:xfrm>
            <a:off x="14211300" y="18506703"/>
            <a:ext cx="51435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dirty="0">
                <a:solidFill>
                  <a:srgbClr val="CFD2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稳定可靠</a:t>
            </a:r>
            <a:endParaRPr lang="en-US" sz="825" dirty="0"/>
          </a:p>
        </p:txBody>
      </p:sp>
      <p:sp>
        <p:nvSpPr>
          <p:cNvPr id="292" name="Text 241"/>
          <p:cNvSpPr/>
          <p:nvPr/>
        </p:nvSpPr>
        <p:spPr>
          <a:xfrm>
            <a:off x="14820900" y="18220953"/>
            <a:ext cx="2476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8A9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50" dirty="0"/>
          </a:p>
        </p:txBody>
      </p:sp>
      <p:sp>
        <p:nvSpPr>
          <p:cNvPr id="293" name="Shape 242"/>
          <p:cNvSpPr/>
          <p:nvPr/>
        </p:nvSpPr>
        <p:spPr>
          <a:xfrm>
            <a:off x="15125700" y="18030453"/>
            <a:ext cx="438150" cy="438150"/>
          </a:xfrm>
          <a:prstGeom prst="ellipse">
            <a:avLst/>
          </a:prstGeom>
          <a:ln w="14288">
            <a:solidFill>
              <a:srgbClr val="9AA07E"/>
            </a:solidFill>
            <a:prstDash val="solid"/>
          </a:ln>
        </p:spPr>
      </p:sp>
      <p:pic>
        <p:nvPicPr>
          <p:cNvPr id="294" name="Image 49" descr="preencoded.png">    </p:cNvPr>
          <p:cNvPicPr>
            <a:picLocks noChangeAspect="1"/>
          </p:cNvPicPr>
          <p:nvPr/>
        </p:nvPicPr>
        <p:blipFill>
          <a:blip r:embed="rId78">
            <a:extLst>
              <a:ext uri="{96DAC541-7B7A-43D3-8B79-37D633B846F1}">
                <asvg:svgBlip xmlns:asvg="http://schemas.microsoft.com/office/drawing/2016/SVG/main" r:embed="rId79"/>
              </a:ext>
            </a:extLst>
          </a:blip>
          <a:stretch>
            <a:fillRect/>
          </a:stretch>
        </p:blipFill>
        <p:spPr>
          <a:xfrm>
            <a:off x="15230475" y="18135228"/>
            <a:ext cx="228600" cy="228600"/>
          </a:xfrm>
          <a:prstGeom prst="rect">
            <a:avLst/>
          </a:prstGeom>
        </p:spPr>
      </p:pic>
      <p:sp>
        <p:nvSpPr>
          <p:cNvPr id="295" name="Text 243"/>
          <p:cNvSpPr/>
          <p:nvPr/>
        </p:nvSpPr>
        <p:spPr>
          <a:xfrm>
            <a:off x="15087600" y="18506703"/>
            <a:ext cx="51435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dirty="0">
                <a:solidFill>
                  <a:srgbClr val="CFD2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高效节能</a:t>
            </a:r>
            <a:endParaRPr lang="en-US" sz="8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2026-06-29T02:21:19Z</dcterms:created>
  <dcterms:modified xsi:type="dcterms:W3CDTF">2026-06-29T02:21:19Z</dcterms:modified>
</cp:coreProperties>
</file>